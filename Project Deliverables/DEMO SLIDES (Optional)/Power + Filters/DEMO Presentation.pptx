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embeddedFontLst>
    <p:embeddedFont>
      <p:font typeface="Roboto Thin"/>
      <p:regular r:id="rId21"/>
      <p:bold r:id="rId22"/>
      <p:italic r:id="rId23"/>
      <p:boldItalic r:id="rId24"/>
    </p:embeddedFont>
    <p:embeddedFont>
      <p:font typeface="Roboto Medium"/>
      <p:regular r:id="rId25"/>
      <p:bold r:id="rId26"/>
      <p:italic r:id="rId27"/>
      <p:boldItalic r:id="rId28"/>
    </p:embeddedFont>
    <p:embeddedFont>
      <p:font typeface="Roboto"/>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33" roundtripDataSignature="AMtx7mg7Km7OR/oHTF/dnCLqk1YTwi5Bb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EE52922-C86D-4DCA-A754-2C8424D269C7}">
  <a:tblStyle styleId="{1EE52922-C86D-4DCA-A754-2C8424D269C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RobotoThin-bold.fntdata"/><Relationship Id="rId21" Type="http://schemas.openxmlformats.org/officeDocument/2006/relationships/font" Target="fonts/RobotoThin-regular.fntdata"/><Relationship Id="rId24" Type="http://schemas.openxmlformats.org/officeDocument/2006/relationships/font" Target="fonts/RobotoThin-boldItalic.fntdata"/><Relationship Id="rId23" Type="http://schemas.openxmlformats.org/officeDocument/2006/relationships/font" Target="fonts/RobotoThin-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RobotoMedium-bold.fntdata"/><Relationship Id="rId25" Type="http://schemas.openxmlformats.org/officeDocument/2006/relationships/font" Target="fonts/RobotoMedium-regular.fntdata"/><Relationship Id="rId28" Type="http://schemas.openxmlformats.org/officeDocument/2006/relationships/font" Target="fonts/RobotoMedium-boldItalic.fntdata"/><Relationship Id="rId27" Type="http://schemas.openxmlformats.org/officeDocument/2006/relationships/font" Target="fonts/RobotoMedium-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Roboto-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italic.fntdata"/><Relationship Id="rId30" Type="http://schemas.openxmlformats.org/officeDocument/2006/relationships/font" Target="fonts/Roboto-bold.fntdata"/><Relationship Id="rId11" Type="http://schemas.openxmlformats.org/officeDocument/2006/relationships/slide" Target="slides/slide5.xml"/><Relationship Id="rId33" Type="http://customschemas.google.com/relationships/presentationmetadata" Target="metadata"/><Relationship Id="rId10" Type="http://schemas.openxmlformats.org/officeDocument/2006/relationships/slide" Target="slides/slide4.xml"/><Relationship Id="rId32" Type="http://schemas.openxmlformats.org/officeDocument/2006/relationships/font" Target="fonts/Roboto-bold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a2e32049d3_0_0: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rPr>
              <a:t>Hi, My name is Salina and I’m in charge of the power and analog filter subsystems.</a:t>
            </a:r>
            <a:endParaRPr/>
          </a:p>
        </p:txBody>
      </p:sp>
      <p:sp>
        <p:nvSpPr>
          <p:cNvPr id="52" name="Google Shape;52;g3a2e32049d3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I will be presenting the power subsystem first. The power system is designed to output a +3.3V to the main digital loads, a filtered +3.3V to the DAC VDD, a +5V to the DAC VREF, and a +-10V to the analog output stage. Input protections were added to protect against reverse polarity, overcurrent, and voltage spikes. Small filters were also used throughout the system for high frequency noise filtering. For testing, </a:t>
            </a:r>
            <a:r>
              <a:rPr lang="en-US">
                <a:solidFill>
                  <a:schemeClr val="dk1"/>
                </a:solidFill>
              </a:rPr>
              <a:t>I simulated transient and steady-state behavior in LTspice, then measured startup, and overall validated their performance across the full +-10% input voltage range and varying the load . All rails held accurate voltage within +-2% tolerance and stayed stable for over 15 minutes at max load. </a:t>
            </a:r>
            <a:endParaRPr/>
          </a:p>
        </p:txBody>
      </p:sp>
      <p:sp>
        <p:nvSpPr>
          <p:cNvPr id="60" name="Google Shape;60;p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a9c34bde78_0_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 name="Google Shape;79;g3a9c34bde78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This table shows all the power rails and the maximum expected current output for each rail. The resistors to be used for full-load test are as shown in the last column, and I will be presenting this full load test to demonstrate the </a:t>
            </a:r>
            <a:r>
              <a:rPr lang="en-US"/>
              <a:t>performance</a:t>
            </a:r>
            <a:r>
              <a:rPr lang="en-US"/>
              <a:t> of my power system.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T</a:t>
            </a:r>
            <a:r>
              <a:rPr lang="en-US"/>
              <a:t>he output voltage will be lower than desired if the wattage rating of the load resistor is too low.</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a:t>This happens because the resistor's failure mechanism interferes with your power supply's ability to regulate the voltage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ab8b2de681_0_9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ab8b2de681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ab8b2de681_0_9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ab8b2de681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ab8b2de681_0_10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ab8b2de681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ab8b2de681_0_10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ab8b2de681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ab8b2de681_0_8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ab8b2de681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ab8b2de681_0_5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ab8b2de681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ab8b2de681_0_6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ab8b2de681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ab8b2de681_0_6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ab8b2de681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ab8b2de681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My next subsystem is the Analog Output Filter subsystem. The purpose of this subsystem is to support up to a ±5V swing into 50 Ω at 100 kHz. I’ve ensured that the system can produce such signals when powered by the +-10V analog rails. For testing purposes, we are using ESP32’s to deliver the stream of 16-bit digital codes, which will transfer from the 22-pin connectors into the DAC to be outputted as current values, which will then go into the I/V to be outputted as voltage values that will go through the 150 kHz low-pass, and then the unity gain buffer. The final voltage signal is outputted through the BNC jack.</a:t>
            </a:r>
            <a:r>
              <a:rPr lang="en-US">
                <a:solidFill>
                  <a:schemeClr val="dk1"/>
                </a:solidFill>
              </a:rPr>
              <a:t> I tested the I/V accuracy, filter response, and output swing under the 50 Ω load.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rPr lang="en-US">
                <a:solidFill>
                  <a:schemeClr val="dk1"/>
                </a:solidFill>
              </a:rPr>
              <a:t>The full chain produced clean ±5V sine, sinc, and square waves with stable operation and minimal distortion. It should be noted that in 404, the FPGA will be used to deliver the 16-bit digital codes instead of the ESP32. The ESP32 has low sampling rate compared to the FPGA, causing signals at higher frequencies to be slightly stepped. I’ve confirmed this with our sponsor that this is not a system design issue, but just because we are limited by the ESP32. We will not be having this issue then we integrate this analog filter subsystem with the FPGA in 404.</a:t>
            </a:r>
            <a:endParaRPr/>
          </a:p>
        </p:txBody>
      </p:sp>
      <p:sp>
        <p:nvSpPr>
          <p:cNvPr id="134" name="Google Shape;134;g3ab8b2de681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ab8b2de681_0_1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 name="Google Shape;153;g3ab8b2de681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For today’s testing, we will produce +-5V 1kHz sine waves through both channels on this analog output filtering system.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ab8b2de681_0_7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ab8b2de681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unity gain buffer (or output amplifier) is the main driving force that allows your analog output stage to produce the +-5V, 100kHz signal into a 50 </a:t>
            </a:r>
            <a:r>
              <a:rPr lang="en-US">
                <a:solidFill>
                  <a:schemeClr val="dk1"/>
                </a:solidFill>
              </a:rPr>
              <a:t>Ω</a:t>
            </a:r>
            <a:r>
              <a:rPr lang="en-US"/>
              <a:t> impedance load</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11" name="Shape 11"/>
        <p:cNvGrpSpPr/>
        <p:nvPr/>
      </p:nvGrpSpPr>
      <p:grpSpPr>
        <a:xfrm>
          <a:off x="0" y="0"/>
          <a:ext cx="0" cy="0"/>
          <a:chOff x="0" y="0"/>
          <a:chExt cx="0" cy="0"/>
        </a:xfrm>
      </p:grpSpPr>
      <p:sp>
        <p:nvSpPr>
          <p:cNvPr id="12" name="Google Shape;12;p7"/>
          <p:cNvSpPr txBox="1"/>
          <p:nvPr>
            <p:ph type="ctrTitle"/>
          </p:nvPr>
        </p:nvSpPr>
        <p:spPr>
          <a:xfrm>
            <a:off x="3969582" y="1597819"/>
            <a:ext cx="4488600" cy="1102500"/>
          </a:xfrm>
          <a:prstGeom prst="rect">
            <a:avLst/>
          </a:prstGeom>
          <a:noFill/>
          <a:ln>
            <a:noFill/>
          </a:ln>
        </p:spPr>
        <p:txBody>
          <a:bodyPr anchorCtr="0" anchor="ctr" bIns="45700" lIns="91425" spcFirstLastPara="1" rIns="91425" wrap="square" tIns="45700">
            <a:normAutofit/>
          </a:bodyPr>
          <a:lstStyle>
            <a:lvl1pPr lvl="0" algn="r">
              <a:lnSpc>
                <a:spcPct val="100000"/>
              </a:lnSpc>
              <a:spcBef>
                <a:spcPts val="0"/>
              </a:spcBef>
              <a:spcAft>
                <a:spcPts val="0"/>
              </a:spcAft>
              <a:buClr>
                <a:schemeClr val="lt1"/>
              </a:buClr>
              <a:buSzPts val="3600"/>
              <a:buFont typeface="Arial"/>
              <a:buNone/>
              <a:defRPr b="1"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7"/>
          <p:cNvSpPr txBox="1"/>
          <p:nvPr>
            <p:ph idx="1" type="subTitle"/>
          </p:nvPr>
        </p:nvSpPr>
        <p:spPr>
          <a:xfrm>
            <a:off x="3124200" y="2914650"/>
            <a:ext cx="5334000" cy="1314600"/>
          </a:xfrm>
          <a:prstGeom prst="rect">
            <a:avLst/>
          </a:prstGeom>
          <a:noFill/>
          <a:ln>
            <a:noFill/>
          </a:ln>
        </p:spPr>
        <p:txBody>
          <a:bodyPr anchorCtr="0" anchor="t" bIns="45700" lIns="91425" spcFirstLastPara="1" rIns="91425" wrap="square" tIns="45700">
            <a:normAutofit/>
          </a:bodyPr>
          <a:lstStyle>
            <a:lvl1pPr lvl="0" algn="r">
              <a:lnSpc>
                <a:spcPct val="100000"/>
              </a:lnSpc>
              <a:spcBef>
                <a:spcPts val="560"/>
              </a:spcBef>
              <a:spcAft>
                <a:spcPts val="0"/>
              </a:spcAft>
              <a:buClr>
                <a:srgbClr val="FFFFFF"/>
              </a:buClr>
              <a:buSzPts val="2800"/>
              <a:buNone/>
              <a:defRPr sz="2800">
                <a:solidFill>
                  <a:srgbClr val="FFFFFF"/>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4" name="Google Shape;14;p7"/>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7"/>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7"/>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8"/>
          <p:cNvSpPr txBox="1"/>
          <p:nvPr>
            <p:ph type="title"/>
          </p:nvPr>
        </p:nvSpPr>
        <p:spPr>
          <a:xfrm>
            <a:off x="457200" y="786883"/>
            <a:ext cx="8229600" cy="6027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3200"/>
              <a:buFont typeface="Arial"/>
              <a:buNone/>
              <a:defRPr b="1"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8"/>
          <p:cNvSpPr txBox="1"/>
          <p:nvPr>
            <p:ph idx="1" type="body"/>
          </p:nvPr>
        </p:nvSpPr>
        <p:spPr>
          <a:xfrm>
            <a:off x="457200" y="1536953"/>
            <a:ext cx="8229600" cy="3057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0" name="Google Shape;20;p8"/>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8"/>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8"/>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descr="DLCOE_logo_HWHT.png" id="23" name="Google Shape;23;p8"/>
          <p:cNvPicPr preferRelativeResize="0"/>
          <p:nvPr/>
        </p:nvPicPr>
        <p:blipFill rotWithShape="1">
          <a:blip r:embed="rId3">
            <a:alphaModFix/>
          </a:blip>
          <a:srcRect b="0" l="0" r="0" t="0"/>
          <a:stretch/>
        </p:blipFill>
        <p:spPr>
          <a:xfrm>
            <a:off x="450851" y="175610"/>
            <a:ext cx="1832900" cy="309451"/>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4" name="Shape 24"/>
        <p:cNvGrpSpPr/>
        <p:nvPr/>
      </p:nvGrpSpPr>
      <p:grpSpPr>
        <a:xfrm>
          <a:off x="0" y="0"/>
          <a:ext cx="0" cy="0"/>
          <a:chOff x="0" y="0"/>
          <a:chExt cx="0" cy="0"/>
        </a:xfrm>
      </p:grpSpPr>
      <p:sp>
        <p:nvSpPr>
          <p:cNvPr id="25" name="Google Shape;25;p9"/>
          <p:cNvSpPr txBox="1"/>
          <p:nvPr>
            <p:ph idx="1" type="body"/>
          </p:nvPr>
        </p:nvSpPr>
        <p:spPr>
          <a:xfrm>
            <a:off x="457200" y="1481733"/>
            <a:ext cx="4038600" cy="31128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26" name="Google Shape;26;p9"/>
          <p:cNvSpPr txBox="1"/>
          <p:nvPr>
            <p:ph idx="2" type="body"/>
          </p:nvPr>
        </p:nvSpPr>
        <p:spPr>
          <a:xfrm>
            <a:off x="4648200" y="1481733"/>
            <a:ext cx="4038600" cy="31128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27" name="Google Shape;27;p9"/>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9"/>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9"/>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30" name="Google Shape;30;p9"/>
          <p:cNvSpPr txBox="1"/>
          <p:nvPr>
            <p:ph type="title"/>
          </p:nvPr>
        </p:nvSpPr>
        <p:spPr>
          <a:xfrm>
            <a:off x="457200" y="786883"/>
            <a:ext cx="8229600" cy="6027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3200"/>
              <a:buFont typeface="Arial"/>
              <a:buNone/>
              <a:defRPr b="1"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10"/>
          <p:cNvSpPr txBox="1"/>
          <p:nvPr>
            <p:ph type="title"/>
          </p:nvPr>
        </p:nvSpPr>
        <p:spPr>
          <a:xfrm>
            <a:off x="457200" y="2175487"/>
            <a:ext cx="8229600" cy="8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000"/>
              <a:buFont typeface="Arial"/>
              <a:buNone/>
              <a:defRPr b="1"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0"/>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0"/>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0"/>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6" name="Shape 36"/>
        <p:cNvGrpSpPr/>
        <p:nvPr/>
      </p:nvGrpSpPr>
      <p:grpSpPr>
        <a:xfrm>
          <a:off x="0" y="0"/>
          <a:ext cx="0" cy="0"/>
          <a:chOff x="0" y="0"/>
          <a:chExt cx="0" cy="0"/>
        </a:xfrm>
      </p:grpSpPr>
      <p:sp>
        <p:nvSpPr>
          <p:cNvPr id="37" name="Google Shape;37;p11"/>
          <p:cNvSpPr txBox="1"/>
          <p:nvPr>
            <p:ph type="title"/>
          </p:nvPr>
        </p:nvSpPr>
        <p:spPr>
          <a:xfrm>
            <a:off x="457200" y="800226"/>
            <a:ext cx="3008400" cy="5526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1"/>
          <p:cNvSpPr txBox="1"/>
          <p:nvPr>
            <p:ph idx="1" type="body"/>
          </p:nvPr>
        </p:nvSpPr>
        <p:spPr>
          <a:xfrm>
            <a:off x="3575050" y="805290"/>
            <a:ext cx="5111700" cy="37893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b="1" sz="28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39" name="Google Shape;39;p11"/>
          <p:cNvSpPr txBox="1"/>
          <p:nvPr>
            <p:ph idx="2" type="body"/>
          </p:nvPr>
        </p:nvSpPr>
        <p:spPr>
          <a:xfrm>
            <a:off x="457200" y="1352888"/>
            <a:ext cx="3008400" cy="3241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40" name="Google Shape;40;p11"/>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11"/>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1"/>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3" name="Shape 43"/>
        <p:cNvGrpSpPr/>
        <p:nvPr/>
      </p:nvGrpSpPr>
      <p:grpSpPr>
        <a:xfrm>
          <a:off x="0" y="0"/>
          <a:ext cx="0" cy="0"/>
          <a:chOff x="0" y="0"/>
          <a:chExt cx="0" cy="0"/>
        </a:xfrm>
      </p:grpSpPr>
      <p:sp>
        <p:nvSpPr>
          <p:cNvPr id="44" name="Google Shape;44;p12"/>
          <p:cNvSpPr txBox="1"/>
          <p:nvPr>
            <p:ph type="title"/>
          </p:nvPr>
        </p:nvSpPr>
        <p:spPr>
          <a:xfrm>
            <a:off x="457200" y="897323"/>
            <a:ext cx="2573700" cy="4251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1"/>
              </a:buClr>
              <a:buSzPts val="1800"/>
              <a:buFont typeface="Arial"/>
              <a:buNone/>
              <a:defRPr b="1" sz="1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2"/>
          <p:cNvSpPr/>
          <p:nvPr>
            <p:ph idx="2" type="pic"/>
          </p:nvPr>
        </p:nvSpPr>
        <p:spPr>
          <a:xfrm>
            <a:off x="3200400" y="897322"/>
            <a:ext cx="5486400" cy="3637800"/>
          </a:xfrm>
          <a:prstGeom prst="rect">
            <a:avLst/>
          </a:prstGeom>
          <a:noFill/>
          <a:ln>
            <a:noFill/>
          </a:ln>
        </p:spPr>
      </p:sp>
      <p:sp>
        <p:nvSpPr>
          <p:cNvPr id="46" name="Google Shape;46;p12"/>
          <p:cNvSpPr txBox="1"/>
          <p:nvPr>
            <p:ph idx="1" type="body"/>
          </p:nvPr>
        </p:nvSpPr>
        <p:spPr>
          <a:xfrm>
            <a:off x="457200" y="1326032"/>
            <a:ext cx="2573700" cy="3209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47" name="Google Shape;47;p12"/>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2"/>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2"/>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6"/>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6"/>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8" name="Google Shape;8;p6"/>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9" name="Google Shape;9;p6"/>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0" name="Google Shape;10;p6"/>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jpg"/><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4.jpg"/><Relationship Id="rId4" Type="http://schemas.openxmlformats.org/officeDocument/2006/relationships/image" Target="../media/image1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g3a2e32049d3_0_0"/>
          <p:cNvSpPr txBox="1"/>
          <p:nvPr>
            <p:ph type="ctrTitle"/>
          </p:nvPr>
        </p:nvSpPr>
        <p:spPr>
          <a:xfrm>
            <a:off x="2333875" y="1597825"/>
            <a:ext cx="6715200" cy="11025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r>
              <a:rPr lang="en-US"/>
              <a:t>ECEN 403</a:t>
            </a:r>
            <a:endParaRPr/>
          </a:p>
          <a:p>
            <a:pPr indent="0" lvl="0" marL="0" rtl="0" algn="r">
              <a:lnSpc>
                <a:spcPct val="100000"/>
              </a:lnSpc>
              <a:spcBef>
                <a:spcPts val="0"/>
              </a:spcBef>
              <a:spcAft>
                <a:spcPts val="0"/>
              </a:spcAft>
              <a:buSzPts val="900"/>
              <a:buNone/>
            </a:pPr>
            <a:r>
              <a:rPr lang="en-US"/>
              <a:t>Power &amp; Analog Filters </a:t>
            </a:r>
            <a:endParaRPr/>
          </a:p>
          <a:p>
            <a:pPr indent="0" lvl="0" marL="0" rtl="0" algn="r">
              <a:lnSpc>
                <a:spcPct val="100000"/>
              </a:lnSpc>
              <a:spcBef>
                <a:spcPts val="0"/>
              </a:spcBef>
              <a:spcAft>
                <a:spcPts val="0"/>
              </a:spcAft>
              <a:buSzPts val="900"/>
              <a:buNone/>
            </a:pPr>
            <a:r>
              <a:rPr lang="en-US"/>
              <a:t>DEMO</a:t>
            </a:r>
            <a:endParaRPr/>
          </a:p>
        </p:txBody>
      </p:sp>
      <p:sp>
        <p:nvSpPr>
          <p:cNvPr id="55" name="Google Shape;55;g3a2e32049d3_0_0"/>
          <p:cNvSpPr/>
          <p:nvPr/>
        </p:nvSpPr>
        <p:spPr>
          <a:xfrm>
            <a:off x="0" y="0"/>
            <a:ext cx="4583400" cy="4583400"/>
          </a:xfrm>
          <a:prstGeom prst="diagStripe">
            <a:avLst>
              <a:gd fmla="val 28990" name="adj"/>
            </a:avLst>
          </a:prstGeom>
          <a:blipFill rotWithShape="1">
            <a:blip r:embed="rId3">
              <a:alphaModFix/>
            </a:blip>
            <a:stretch>
              <a:fillRect b="0" l="0" r="0" t="0"/>
            </a:stretch>
          </a:blipFill>
          <a:ln>
            <a:noFill/>
          </a:ln>
          <a:effectLst>
            <a:outerShdw blurRad="193675" rotWithShape="0" dir="5400000" dist="23000">
              <a:srgbClr val="000000">
                <a:alpha val="6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descr="DLCOE_logo_HWHT.png" id="56" name="Google Shape;56;g3a2e32049d3_0_0"/>
          <p:cNvPicPr preferRelativeResize="0"/>
          <p:nvPr/>
        </p:nvPicPr>
        <p:blipFill rotWithShape="1">
          <a:blip r:embed="rId4">
            <a:alphaModFix/>
          </a:blip>
          <a:srcRect b="0" l="0" r="0" t="0"/>
          <a:stretch/>
        </p:blipFill>
        <p:spPr>
          <a:xfrm>
            <a:off x="6728741" y="597214"/>
            <a:ext cx="1740001" cy="295659"/>
          </a:xfrm>
          <a:prstGeom prst="rect">
            <a:avLst/>
          </a:prstGeom>
          <a:noFill/>
          <a:ln>
            <a:noFill/>
          </a:ln>
        </p:spPr>
      </p:pic>
      <p:sp>
        <p:nvSpPr>
          <p:cNvPr id="57" name="Google Shape;57;g3a2e32049d3_0_0"/>
          <p:cNvSpPr txBox="1"/>
          <p:nvPr>
            <p:ph idx="1" type="subTitle"/>
          </p:nvPr>
        </p:nvSpPr>
        <p:spPr>
          <a:xfrm>
            <a:off x="1428250" y="2914650"/>
            <a:ext cx="7620300" cy="13146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700"/>
              <a:buNone/>
            </a:pPr>
            <a:r>
              <a:rPr b="1" lang="en-US" u="sng"/>
              <a:t>Team #25:</a:t>
            </a:r>
            <a:r>
              <a:rPr b="1" lang="en-US"/>
              <a:t> </a:t>
            </a:r>
            <a:r>
              <a:rPr lang="en-US"/>
              <a:t>The Only WGT </a:t>
            </a:r>
            <a:br>
              <a:rPr lang="en-US"/>
            </a:br>
            <a:r>
              <a:rPr b="1" lang="en-US" u="sng"/>
              <a:t>Team Member:</a:t>
            </a:r>
            <a:r>
              <a:rPr lang="en-US"/>
              <a:t> Salina Teng</a:t>
            </a:r>
            <a:endParaRPr/>
          </a:p>
          <a:p>
            <a:pPr indent="0" lvl="0" marL="0" rtl="0" algn="r">
              <a:lnSpc>
                <a:spcPct val="100000"/>
              </a:lnSpc>
              <a:spcBef>
                <a:spcPts val="0"/>
              </a:spcBef>
              <a:spcAft>
                <a:spcPts val="0"/>
              </a:spcAft>
              <a:buSzPts val="700"/>
              <a:buNone/>
            </a:pPr>
            <a:r>
              <a:rPr b="1" lang="en-US" u="sng"/>
              <a:t>TA: </a:t>
            </a:r>
            <a:r>
              <a:rPr lang="en-US"/>
              <a:t>Jianhan Pan</a:t>
            </a:r>
            <a:endParaRPr/>
          </a:p>
          <a:p>
            <a:pPr indent="0" lvl="0" marL="0" rtl="0" algn="r">
              <a:lnSpc>
                <a:spcPct val="100000"/>
              </a:lnSpc>
              <a:spcBef>
                <a:spcPts val="0"/>
              </a:spcBef>
              <a:spcAft>
                <a:spcPts val="0"/>
              </a:spcAft>
              <a:buSzPts val="700"/>
              <a:buNone/>
            </a:pPr>
            <a:r>
              <a:rPr b="1" lang="en-US" u="sng"/>
              <a:t>Sponsor:</a:t>
            </a:r>
            <a:r>
              <a:rPr lang="en-US"/>
              <a:t> John Lusher</a:t>
            </a:r>
            <a:br>
              <a:rPr lang="en-US"/>
            </a:b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3"/>
          <p:cNvSpPr txBox="1"/>
          <p:nvPr>
            <p:ph type="title"/>
          </p:nvPr>
        </p:nvSpPr>
        <p:spPr>
          <a:xfrm>
            <a:off x="457200" y="689718"/>
            <a:ext cx="8229600" cy="6027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Arial"/>
              <a:buNone/>
            </a:pPr>
            <a:r>
              <a:rPr lang="en-US"/>
              <a:t>Power Subsystem</a:t>
            </a:r>
            <a:endParaRPr/>
          </a:p>
          <a:p>
            <a:pPr indent="0" lvl="0" marL="0" rtl="0" algn="ctr">
              <a:lnSpc>
                <a:spcPct val="100000"/>
              </a:lnSpc>
              <a:spcBef>
                <a:spcPts val="0"/>
              </a:spcBef>
              <a:spcAft>
                <a:spcPts val="0"/>
              </a:spcAft>
              <a:buClr>
                <a:schemeClr val="dk1"/>
              </a:buClr>
              <a:buSzPct val="161797"/>
              <a:buFont typeface="Arial"/>
              <a:buNone/>
            </a:pPr>
            <a:r>
              <a:rPr lang="en-US" sz="1977"/>
              <a:t>Salina Teng</a:t>
            </a:r>
            <a:endParaRPr sz="1977"/>
          </a:p>
        </p:txBody>
      </p:sp>
      <p:grpSp>
        <p:nvGrpSpPr>
          <p:cNvPr id="63" name="Google Shape;63;p3"/>
          <p:cNvGrpSpPr/>
          <p:nvPr/>
        </p:nvGrpSpPr>
        <p:grpSpPr>
          <a:xfrm>
            <a:off x="183922" y="1358100"/>
            <a:ext cx="4299392" cy="3705507"/>
            <a:chOff x="1118234" y="283728"/>
            <a:chExt cx="2143266" cy="4025100"/>
          </a:xfrm>
        </p:grpSpPr>
        <p:sp>
          <p:nvSpPr>
            <p:cNvPr id="64" name="Google Shape;64;p3"/>
            <p:cNvSpPr/>
            <p:nvPr/>
          </p:nvSpPr>
          <p:spPr>
            <a:xfrm>
              <a:off x="1178647" y="283728"/>
              <a:ext cx="2030400" cy="4025100"/>
            </a:xfrm>
            <a:prstGeom prst="rect">
              <a:avLst/>
            </a:prstGeom>
            <a:solidFill>
              <a:srgbClr val="660000"/>
            </a:solidFill>
            <a:ln>
              <a:noFill/>
            </a:ln>
          </p:spPr>
          <p:txBody>
            <a:bodyPr anchorCtr="0" anchor="ctr" bIns="90675" lIns="90675" spcFirstLastPara="1" rIns="90675" wrap="square" tIns="906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3"/>
            <p:cNvSpPr/>
            <p:nvPr/>
          </p:nvSpPr>
          <p:spPr>
            <a:xfrm>
              <a:off x="1118234" y="341749"/>
              <a:ext cx="2048100" cy="1423500"/>
            </a:xfrm>
            <a:prstGeom prst="rect">
              <a:avLst/>
            </a:prstGeom>
            <a:solidFill>
              <a:srgbClr val="FFFFFF"/>
            </a:solidFill>
            <a:ln cap="flat" cmpd="sng" w="18900">
              <a:solidFill>
                <a:schemeClr val="dk1"/>
              </a:solidFill>
              <a:prstDash val="solid"/>
              <a:round/>
              <a:headEnd len="sm" w="sm" type="none"/>
              <a:tailEnd len="sm" w="sm" type="none"/>
            </a:ln>
          </p:spPr>
          <p:txBody>
            <a:bodyPr anchorCtr="0" anchor="ctr" bIns="90675" lIns="90675" spcFirstLastPara="1" rIns="90675" wrap="square" tIns="906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3"/>
            <p:cNvSpPr/>
            <p:nvPr/>
          </p:nvSpPr>
          <p:spPr>
            <a:xfrm>
              <a:off x="1225999" y="1167844"/>
              <a:ext cx="1815000" cy="608100"/>
            </a:xfrm>
            <a:prstGeom prst="rect">
              <a:avLst/>
            </a:prstGeom>
            <a:noFill/>
            <a:ln>
              <a:noFill/>
            </a:ln>
          </p:spPr>
          <p:txBody>
            <a:bodyPr anchorCtr="0" anchor="t" bIns="90675" lIns="90675" spcFirstLastPara="1" rIns="90675" wrap="square" tIns="90675">
              <a:noAutofit/>
            </a:bodyPr>
            <a:lstStyle/>
            <a:p>
              <a:pPr indent="0" lvl="0" marL="0" rtl="0" algn="l">
                <a:spcBef>
                  <a:spcPts val="0"/>
                </a:spcBef>
                <a:spcAft>
                  <a:spcPts val="0"/>
                </a:spcAft>
                <a:buClr>
                  <a:schemeClr val="dk1"/>
                </a:buClr>
                <a:buSzPts val="1100"/>
                <a:buFont typeface="Arial"/>
                <a:buNone/>
              </a:pPr>
              <a:r>
                <a:rPr i="1" lang="en-US" sz="1200">
                  <a:solidFill>
                    <a:schemeClr val="dk1"/>
                  </a:solidFill>
                  <a:latin typeface="Roboto Medium"/>
                  <a:ea typeface="Roboto Medium"/>
                  <a:cs typeface="Roboto Medium"/>
                  <a:sym typeface="Roboto Medium"/>
                </a:rPr>
                <a:t>Create a stable, low-noise multi-rail power design for the AWG</a:t>
              </a:r>
              <a:endParaRPr b="0" i="1" sz="1200" u="none" cap="none" strike="noStrike">
                <a:solidFill>
                  <a:schemeClr val="dk1"/>
                </a:solidFill>
                <a:latin typeface="Roboto Medium"/>
                <a:ea typeface="Roboto Medium"/>
                <a:cs typeface="Roboto Medium"/>
                <a:sym typeface="Roboto Medium"/>
              </a:endParaRPr>
            </a:p>
          </p:txBody>
        </p:sp>
        <p:sp>
          <p:nvSpPr>
            <p:cNvPr id="67" name="Google Shape;67;p3"/>
            <p:cNvSpPr/>
            <p:nvPr/>
          </p:nvSpPr>
          <p:spPr>
            <a:xfrm>
              <a:off x="1218214" y="424055"/>
              <a:ext cx="1815000" cy="675000"/>
            </a:xfrm>
            <a:prstGeom prst="rect">
              <a:avLst/>
            </a:prstGeom>
            <a:noFill/>
            <a:ln>
              <a:noFill/>
            </a:ln>
          </p:spPr>
          <p:txBody>
            <a:bodyPr anchorCtr="0" anchor="t" bIns="90675" lIns="90675" spcFirstLastPara="1" rIns="90675" wrap="square" tIns="90675">
              <a:noAutofit/>
            </a:bodyPr>
            <a:lstStyle/>
            <a:p>
              <a:pPr indent="0" lvl="0" marL="0" marR="0" rtl="0" algn="l">
                <a:lnSpc>
                  <a:spcPct val="100000"/>
                </a:lnSpc>
                <a:spcBef>
                  <a:spcPts val="0"/>
                </a:spcBef>
                <a:spcAft>
                  <a:spcPts val="0"/>
                </a:spcAft>
                <a:buClr>
                  <a:srgbClr val="000000"/>
                </a:buClr>
                <a:buSzPts val="3966"/>
                <a:buFont typeface="Arial"/>
                <a:buNone/>
              </a:pPr>
              <a:r>
                <a:rPr b="1" i="0" lang="en-US" sz="3966" u="none" cap="none" strike="noStrike">
                  <a:solidFill>
                    <a:srgbClr val="990000"/>
                  </a:solidFill>
                  <a:latin typeface="Roboto"/>
                  <a:ea typeface="Roboto"/>
                  <a:cs typeface="Roboto"/>
                  <a:sym typeface="Roboto"/>
                </a:rPr>
                <a:t>Design</a:t>
              </a:r>
              <a:endParaRPr b="0" i="0" sz="3966" u="none" cap="none" strike="noStrike">
                <a:solidFill>
                  <a:srgbClr val="990000"/>
                </a:solidFill>
                <a:latin typeface="Roboto Thin"/>
                <a:ea typeface="Roboto Thin"/>
                <a:cs typeface="Roboto Thin"/>
                <a:sym typeface="Roboto Thin"/>
              </a:endParaRPr>
            </a:p>
          </p:txBody>
        </p:sp>
        <p:sp>
          <p:nvSpPr>
            <p:cNvPr id="68" name="Google Shape;68;p3"/>
            <p:cNvSpPr/>
            <p:nvPr/>
          </p:nvSpPr>
          <p:spPr>
            <a:xfrm rot="5400000">
              <a:off x="1947731" y="1820733"/>
              <a:ext cx="389100" cy="278100"/>
            </a:xfrm>
            <a:prstGeom prst="rightArrow">
              <a:avLst>
                <a:gd fmla="val 34239" name="adj1"/>
                <a:gd fmla="val 57035" name="adj2"/>
              </a:avLst>
            </a:prstGeom>
            <a:solidFill>
              <a:srgbClr val="FFFFFF"/>
            </a:solidFill>
            <a:ln>
              <a:noFill/>
            </a:ln>
          </p:spPr>
          <p:txBody>
            <a:bodyPr anchorCtr="0" anchor="ctr" bIns="90675" lIns="90675" spcFirstLastPara="1" rIns="90675" wrap="square" tIns="906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3"/>
            <p:cNvSpPr/>
            <p:nvPr/>
          </p:nvSpPr>
          <p:spPr>
            <a:xfrm>
              <a:off x="1118300" y="2061647"/>
              <a:ext cx="2143200" cy="2196300"/>
            </a:xfrm>
            <a:prstGeom prst="rect">
              <a:avLst/>
            </a:prstGeom>
            <a:noFill/>
            <a:ln>
              <a:noFill/>
            </a:ln>
          </p:spPr>
          <p:txBody>
            <a:bodyPr anchorCtr="0" anchor="t" bIns="90675" lIns="90675" spcFirstLastPara="1" rIns="90675" wrap="square" tIns="90675">
              <a:noAutofit/>
            </a:bodyPr>
            <a:lstStyle/>
            <a:p>
              <a:pPr indent="-304800" lvl="0" marL="457200" rtl="0" algn="l">
                <a:lnSpc>
                  <a:spcPct val="115000"/>
                </a:lnSpc>
                <a:spcBef>
                  <a:spcPts val="0"/>
                </a:spcBef>
                <a:spcAft>
                  <a:spcPts val="0"/>
                </a:spcAft>
                <a:buClr>
                  <a:schemeClr val="lt1"/>
                </a:buClr>
                <a:buSzPts val="1200"/>
                <a:buFont typeface="Roboto"/>
                <a:buChar char="●"/>
              </a:pPr>
              <a:r>
                <a:rPr lang="en-US" sz="1200">
                  <a:solidFill>
                    <a:schemeClr val="lt1"/>
                  </a:solidFill>
                  <a:latin typeface="Roboto"/>
                  <a:ea typeface="Roboto"/>
                  <a:cs typeface="Roboto"/>
                  <a:sym typeface="Roboto"/>
                </a:rPr>
                <a:t>Defined </a:t>
              </a:r>
              <a:r>
                <a:rPr b="1" lang="en-US" sz="1200">
                  <a:solidFill>
                    <a:schemeClr val="lt1"/>
                  </a:solidFill>
                  <a:latin typeface="Roboto"/>
                  <a:ea typeface="Roboto"/>
                  <a:cs typeface="Roboto"/>
                  <a:sym typeface="Roboto"/>
                </a:rPr>
                <a:t>+12V → ±10V, +5V, +3.3V, +3.3V_CLEAN </a:t>
              </a:r>
              <a:endParaRPr b="1" sz="1200">
                <a:solidFill>
                  <a:schemeClr val="lt1"/>
                </a:solidFill>
                <a:latin typeface="Roboto"/>
                <a:ea typeface="Roboto"/>
                <a:cs typeface="Roboto"/>
                <a:sym typeface="Roboto"/>
              </a:endParaRPr>
            </a:p>
            <a:p>
              <a:pPr indent="0" lvl="0" marL="457200" rtl="0" algn="l">
                <a:lnSpc>
                  <a:spcPct val="115000"/>
                </a:lnSpc>
                <a:spcBef>
                  <a:spcPts val="0"/>
                </a:spcBef>
                <a:spcAft>
                  <a:spcPts val="0"/>
                </a:spcAft>
                <a:buNone/>
              </a:pPr>
              <a:r>
                <a:rPr b="1" lang="en-US" sz="1200">
                  <a:solidFill>
                    <a:schemeClr val="lt1"/>
                  </a:solidFill>
                  <a:latin typeface="Roboto"/>
                  <a:ea typeface="Roboto"/>
                  <a:cs typeface="Roboto"/>
                  <a:sym typeface="Roboto"/>
                </a:rPr>
                <a:t>rails</a:t>
              </a:r>
              <a:r>
                <a:rPr lang="en-US" sz="1200">
                  <a:solidFill>
                    <a:schemeClr val="lt1"/>
                  </a:solidFill>
                  <a:latin typeface="Roboto"/>
                  <a:ea typeface="Roboto"/>
                  <a:cs typeface="Roboto"/>
                  <a:sym typeface="Roboto"/>
                </a:rPr>
                <a:t> on schematic/PCB</a:t>
              </a:r>
              <a:endParaRPr sz="1200">
                <a:solidFill>
                  <a:schemeClr val="lt1"/>
                </a:solidFill>
                <a:latin typeface="Roboto"/>
                <a:ea typeface="Roboto"/>
                <a:cs typeface="Roboto"/>
                <a:sym typeface="Roboto"/>
              </a:endParaRPr>
            </a:p>
            <a:p>
              <a:pPr indent="0" lvl="0" marL="457200" rtl="0" algn="l">
                <a:lnSpc>
                  <a:spcPct val="115000"/>
                </a:lnSpc>
                <a:spcBef>
                  <a:spcPts val="0"/>
                </a:spcBef>
                <a:spcAft>
                  <a:spcPts val="0"/>
                </a:spcAft>
                <a:buNone/>
              </a:pPr>
              <a:r>
                <a:t/>
              </a:r>
              <a:endParaRPr sz="1200">
                <a:solidFill>
                  <a:schemeClr val="lt1"/>
                </a:solidFill>
                <a:latin typeface="Roboto"/>
                <a:ea typeface="Roboto"/>
                <a:cs typeface="Roboto"/>
                <a:sym typeface="Roboto"/>
              </a:endParaRPr>
            </a:p>
            <a:p>
              <a:pPr indent="-304800" lvl="0" marL="457200" rtl="0" algn="l">
                <a:lnSpc>
                  <a:spcPct val="115000"/>
                </a:lnSpc>
                <a:spcBef>
                  <a:spcPts val="0"/>
                </a:spcBef>
                <a:spcAft>
                  <a:spcPts val="0"/>
                </a:spcAft>
                <a:buClr>
                  <a:schemeClr val="lt1"/>
                </a:buClr>
                <a:buSzPts val="1200"/>
                <a:buFont typeface="Roboto"/>
                <a:buChar char="●"/>
              </a:pPr>
              <a:r>
                <a:rPr lang="en-US" sz="1200">
                  <a:solidFill>
                    <a:schemeClr val="lt1"/>
                  </a:solidFill>
                  <a:latin typeface="Roboto"/>
                  <a:ea typeface="Roboto"/>
                  <a:cs typeface="Roboto"/>
                  <a:sym typeface="Roboto"/>
                </a:rPr>
                <a:t>Added input protection &amp; filters</a:t>
              </a:r>
              <a:endParaRPr sz="1200">
                <a:solidFill>
                  <a:schemeClr val="lt1"/>
                </a:solidFill>
                <a:latin typeface="Roboto"/>
                <a:ea typeface="Roboto"/>
                <a:cs typeface="Roboto"/>
                <a:sym typeface="Roboto"/>
              </a:endParaRPr>
            </a:p>
            <a:p>
              <a:pPr indent="0" lvl="0" marL="457200" rtl="0" algn="l">
                <a:lnSpc>
                  <a:spcPct val="115000"/>
                </a:lnSpc>
                <a:spcBef>
                  <a:spcPts val="0"/>
                </a:spcBef>
                <a:spcAft>
                  <a:spcPts val="0"/>
                </a:spcAft>
                <a:buNone/>
              </a:pPr>
              <a:r>
                <a:t/>
              </a:r>
              <a:endParaRPr sz="1200">
                <a:solidFill>
                  <a:schemeClr val="lt1"/>
                </a:solidFill>
                <a:latin typeface="Roboto"/>
                <a:ea typeface="Roboto"/>
                <a:cs typeface="Roboto"/>
                <a:sym typeface="Roboto"/>
              </a:endParaRPr>
            </a:p>
            <a:p>
              <a:pPr indent="-304800" lvl="0" marL="457200" rtl="0" algn="l">
                <a:lnSpc>
                  <a:spcPct val="115000"/>
                </a:lnSpc>
                <a:spcBef>
                  <a:spcPts val="0"/>
                </a:spcBef>
                <a:spcAft>
                  <a:spcPts val="0"/>
                </a:spcAft>
                <a:buClr>
                  <a:schemeClr val="lt1"/>
                </a:buClr>
                <a:buSzPts val="1200"/>
                <a:buFont typeface="Roboto"/>
                <a:buChar char="●"/>
              </a:pPr>
              <a:r>
                <a:rPr lang="en-US" sz="1200">
                  <a:solidFill>
                    <a:schemeClr val="lt1"/>
                  </a:solidFill>
                  <a:latin typeface="Roboto"/>
                  <a:ea typeface="Roboto"/>
                  <a:cs typeface="Roboto"/>
                  <a:sym typeface="Roboto"/>
                </a:rPr>
                <a:t>Selected the proper DC/DC converters for all rails</a:t>
              </a:r>
              <a:endParaRPr sz="1200">
                <a:solidFill>
                  <a:schemeClr val="lt1"/>
                </a:solidFill>
                <a:latin typeface="Roboto"/>
                <a:ea typeface="Roboto"/>
                <a:cs typeface="Roboto"/>
                <a:sym typeface="Roboto"/>
              </a:endParaRPr>
            </a:p>
            <a:p>
              <a:pPr indent="0" lvl="0" marL="457200" rtl="0" algn="l">
                <a:lnSpc>
                  <a:spcPct val="115000"/>
                </a:lnSpc>
                <a:spcBef>
                  <a:spcPts val="0"/>
                </a:spcBef>
                <a:spcAft>
                  <a:spcPts val="0"/>
                </a:spcAft>
                <a:buNone/>
              </a:pPr>
              <a:r>
                <a:t/>
              </a:r>
              <a:endParaRPr sz="1200">
                <a:solidFill>
                  <a:schemeClr val="lt1"/>
                </a:solidFill>
                <a:latin typeface="Roboto"/>
                <a:ea typeface="Roboto"/>
                <a:cs typeface="Roboto"/>
                <a:sym typeface="Roboto"/>
              </a:endParaRPr>
            </a:p>
            <a:p>
              <a:pPr indent="-304800" lvl="0" marL="457200" rtl="0" algn="l">
                <a:lnSpc>
                  <a:spcPct val="115000"/>
                </a:lnSpc>
                <a:spcBef>
                  <a:spcPts val="0"/>
                </a:spcBef>
                <a:spcAft>
                  <a:spcPts val="0"/>
                </a:spcAft>
                <a:buClr>
                  <a:schemeClr val="lt1"/>
                </a:buClr>
                <a:buSzPts val="1200"/>
                <a:buFont typeface="Roboto"/>
                <a:buChar char="●"/>
              </a:pPr>
              <a:r>
                <a:rPr lang="en-US" sz="1200">
                  <a:solidFill>
                    <a:schemeClr val="lt1"/>
                  </a:solidFill>
                  <a:latin typeface="Roboto"/>
                  <a:ea typeface="Roboto"/>
                  <a:cs typeface="Roboto"/>
                  <a:sym typeface="Roboto"/>
                </a:rPr>
                <a:t>Added precision VREF IC for clean DAC reference</a:t>
              </a:r>
              <a:endParaRPr sz="1491">
                <a:solidFill>
                  <a:srgbClr val="FFFFFF"/>
                </a:solidFill>
                <a:latin typeface="Roboto"/>
                <a:ea typeface="Roboto"/>
                <a:cs typeface="Roboto"/>
                <a:sym typeface="Roboto"/>
              </a:endParaRPr>
            </a:p>
          </p:txBody>
        </p:sp>
      </p:grpSp>
      <p:grpSp>
        <p:nvGrpSpPr>
          <p:cNvPr id="70" name="Google Shape;70;p3"/>
          <p:cNvGrpSpPr/>
          <p:nvPr/>
        </p:nvGrpSpPr>
        <p:grpSpPr>
          <a:xfrm>
            <a:off x="4571999" y="1358125"/>
            <a:ext cx="4299345" cy="3705448"/>
            <a:chOff x="1118234" y="283725"/>
            <a:chExt cx="2090816" cy="4076400"/>
          </a:xfrm>
        </p:grpSpPr>
        <p:sp>
          <p:nvSpPr>
            <p:cNvPr id="71" name="Google Shape;71;p3"/>
            <p:cNvSpPr/>
            <p:nvPr/>
          </p:nvSpPr>
          <p:spPr>
            <a:xfrm>
              <a:off x="1178650" y="283725"/>
              <a:ext cx="2030400" cy="4076400"/>
            </a:xfrm>
            <a:prstGeom prst="rect">
              <a:avLst/>
            </a:prstGeom>
            <a:solidFill>
              <a:srgbClr val="660000"/>
            </a:solidFill>
            <a:ln>
              <a:noFill/>
            </a:ln>
          </p:spPr>
          <p:txBody>
            <a:bodyPr anchorCtr="0" anchor="ctr" bIns="90675" lIns="90675" spcFirstLastPara="1" rIns="90675" wrap="square" tIns="906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3"/>
            <p:cNvSpPr/>
            <p:nvPr/>
          </p:nvSpPr>
          <p:spPr>
            <a:xfrm>
              <a:off x="1118234" y="341749"/>
              <a:ext cx="2048100" cy="1423500"/>
            </a:xfrm>
            <a:prstGeom prst="rect">
              <a:avLst/>
            </a:prstGeom>
            <a:solidFill>
              <a:srgbClr val="FFFFFF"/>
            </a:solidFill>
            <a:ln cap="flat" cmpd="sng" w="18900">
              <a:solidFill>
                <a:schemeClr val="dk1"/>
              </a:solidFill>
              <a:prstDash val="solid"/>
              <a:round/>
              <a:headEnd len="sm" w="sm" type="none"/>
              <a:tailEnd len="sm" w="sm" type="none"/>
            </a:ln>
          </p:spPr>
          <p:txBody>
            <a:bodyPr anchorCtr="0" anchor="ctr" bIns="90675" lIns="90675" spcFirstLastPara="1" rIns="90675" wrap="square" tIns="906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3"/>
            <p:cNvSpPr/>
            <p:nvPr/>
          </p:nvSpPr>
          <p:spPr>
            <a:xfrm>
              <a:off x="1256140" y="1076958"/>
              <a:ext cx="1815000" cy="608100"/>
            </a:xfrm>
            <a:prstGeom prst="rect">
              <a:avLst/>
            </a:prstGeom>
            <a:noFill/>
            <a:ln>
              <a:noFill/>
            </a:ln>
          </p:spPr>
          <p:txBody>
            <a:bodyPr anchorCtr="0" anchor="t" bIns="90675" lIns="90675" spcFirstLastPara="1" rIns="90675" wrap="square" tIns="90675">
              <a:noAutofit/>
            </a:bodyPr>
            <a:lstStyle/>
            <a:p>
              <a:pPr indent="0" lvl="0" marL="0" rtl="0" algn="l">
                <a:spcBef>
                  <a:spcPts val="0"/>
                </a:spcBef>
                <a:spcAft>
                  <a:spcPts val="0"/>
                </a:spcAft>
                <a:buClr>
                  <a:schemeClr val="dk1"/>
                </a:buClr>
                <a:buSzPts val="1100"/>
                <a:buFont typeface="Arial"/>
                <a:buNone/>
              </a:pPr>
              <a:r>
                <a:rPr i="1" lang="en-US" sz="1200">
                  <a:solidFill>
                    <a:schemeClr val="dk1"/>
                  </a:solidFill>
                  <a:latin typeface="Roboto Medium"/>
                  <a:ea typeface="Roboto Medium"/>
                  <a:cs typeface="Roboto Medium"/>
                  <a:sym typeface="Roboto Medium"/>
                </a:rPr>
                <a:t>Verify converter startup behavior, rail stability, and load performance</a:t>
              </a:r>
              <a:endParaRPr b="0" i="1" sz="1200" u="none" cap="none" strike="noStrike">
                <a:solidFill>
                  <a:schemeClr val="dk1"/>
                </a:solidFill>
                <a:latin typeface="Roboto Medium"/>
                <a:ea typeface="Roboto Medium"/>
                <a:cs typeface="Roboto Medium"/>
                <a:sym typeface="Roboto Medium"/>
              </a:endParaRPr>
            </a:p>
          </p:txBody>
        </p:sp>
        <p:sp>
          <p:nvSpPr>
            <p:cNvPr id="74" name="Google Shape;74;p3"/>
            <p:cNvSpPr/>
            <p:nvPr/>
          </p:nvSpPr>
          <p:spPr>
            <a:xfrm>
              <a:off x="1247476" y="429073"/>
              <a:ext cx="1197600" cy="675000"/>
            </a:xfrm>
            <a:prstGeom prst="rect">
              <a:avLst/>
            </a:prstGeom>
            <a:noFill/>
            <a:ln>
              <a:noFill/>
            </a:ln>
          </p:spPr>
          <p:txBody>
            <a:bodyPr anchorCtr="0" anchor="t" bIns="90675" lIns="90675" spcFirstLastPara="1" rIns="90675" wrap="square" tIns="90675">
              <a:noAutofit/>
            </a:bodyPr>
            <a:lstStyle/>
            <a:p>
              <a:pPr indent="0" lvl="0" marL="0" marR="0" rtl="0" algn="l">
                <a:lnSpc>
                  <a:spcPct val="100000"/>
                </a:lnSpc>
                <a:spcBef>
                  <a:spcPts val="0"/>
                </a:spcBef>
                <a:spcAft>
                  <a:spcPts val="0"/>
                </a:spcAft>
                <a:buClr>
                  <a:srgbClr val="000000"/>
                </a:buClr>
                <a:buSzPts val="3966"/>
                <a:buFont typeface="Arial"/>
                <a:buNone/>
              </a:pPr>
              <a:r>
                <a:rPr b="1" i="0" lang="en-US" sz="3966" u="none" cap="none" strike="noStrike">
                  <a:solidFill>
                    <a:srgbClr val="990000"/>
                  </a:solidFill>
                  <a:latin typeface="Roboto"/>
                  <a:ea typeface="Roboto"/>
                  <a:cs typeface="Roboto"/>
                  <a:sym typeface="Roboto"/>
                </a:rPr>
                <a:t>Test</a:t>
              </a:r>
              <a:endParaRPr b="0" i="0" sz="3966" u="none" cap="none" strike="noStrike">
                <a:solidFill>
                  <a:srgbClr val="990000"/>
                </a:solidFill>
                <a:latin typeface="Roboto Thin"/>
                <a:ea typeface="Roboto Thin"/>
                <a:cs typeface="Roboto Thin"/>
                <a:sym typeface="Roboto Thin"/>
              </a:endParaRPr>
            </a:p>
          </p:txBody>
        </p:sp>
        <p:sp>
          <p:nvSpPr>
            <p:cNvPr id="75" name="Google Shape;75;p3"/>
            <p:cNvSpPr/>
            <p:nvPr/>
          </p:nvSpPr>
          <p:spPr>
            <a:xfrm rot="5400000">
              <a:off x="1947731" y="1820733"/>
              <a:ext cx="389100" cy="278100"/>
            </a:xfrm>
            <a:prstGeom prst="rightArrow">
              <a:avLst>
                <a:gd fmla="val 34239" name="adj1"/>
                <a:gd fmla="val 57035" name="adj2"/>
              </a:avLst>
            </a:prstGeom>
            <a:solidFill>
              <a:srgbClr val="FFFFFF"/>
            </a:solidFill>
            <a:ln>
              <a:noFill/>
            </a:ln>
          </p:spPr>
          <p:txBody>
            <a:bodyPr anchorCtr="0" anchor="ctr" bIns="90675" lIns="90675" spcFirstLastPara="1" rIns="90675" wrap="square" tIns="906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3"/>
            <p:cNvSpPr/>
            <p:nvPr/>
          </p:nvSpPr>
          <p:spPr>
            <a:xfrm>
              <a:off x="1118300" y="2036229"/>
              <a:ext cx="2030400" cy="2221800"/>
            </a:xfrm>
            <a:prstGeom prst="rect">
              <a:avLst/>
            </a:prstGeom>
            <a:noFill/>
            <a:ln>
              <a:noFill/>
            </a:ln>
          </p:spPr>
          <p:txBody>
            <a:bodyPr anchorCtr="0" anchor="t" bIns="90675" lIns="90675" spcFirstLastPara="1" rIns="90675" wrap="square" tIns="90675">
              <a:noAutofit/>
            </a:bodyPr>
            <a:lstStyle/>
            <a:p>
              <a:pPr indent="-304800" lvl="0" marL="457200" rtl="0" algn="l">
                <a:lnSpc>
                  <a:spcPct val="115000"/>
                </a:lnSpc>
                <a:spcBef>
                  <a:spcPts val="0"/>
                </a:spcBef>
                <a:spcAft>
                  <a:spcPts val="0"/>
                </a:spcAft>
                <a:buClr>
                  <a:schemeClr val="lt1"/>
                </a:buClr>
                <a:buSzPts val="1200"/>
                <a:buFont typeface="Roboto"/>
                <a:buChar char="●"/>
              </a:pPr>
              <a:r>
                <a:rPr lang="en-US" sz="1200">
                  <a:solidFill>
                    <a:schemeClr val="lt1"/>
                  </a:solidFill>
                  <a:latin typeface="Roboto"/>
                  <a:ea typeface="Roboto"/>
                  <a:cs typeface="Roboto"/>
                  <a:sym typeface="Roboto"/>
                </a:rPr>
                <a:t>Simulated transient/steady-state rail performance in LTspice</a:t>
              </a:r>
              <a:endParaRPr sz="1200">
                <a:solidFill>
                  <a:schemeClr val="lt1"/>
                </a:solidFill>
                <a:latin typeface="Roboto"/>
                <a:ea typeface="Roboto"/>
                <a:cs typeface="Roboto"/>
                <a:sym typeface="Roboto"/>
              </a:endParaRPr>
            </a:p>
            <a:p>
              <a:pPr indent="0" lvl="0" marL="457200" rtl="0" algn="l">
                <a:lnSpc>
                  <a:spcPct val="115000"/>
                </a:lnSpc>
                <a:spcBef>
                  <a:spcPts val="0"/>
                </a:spcBef>
                <a:spcAft>
                  <a:spcPts val="0"/>
                </a:spcAft>
                <a:buNone/>
              </a:pPr>
              <a:r>
                <a:t/>
              </a:r>
              <a:endParaRPr sz="1200">
                <a:solidFill>
                  <a:schemeClr val="lt1"/>
                </a:solidFill>
                <a:latin typeface="Roboto"/>
                <a:ea typeface="Roboto"/>
                <a:cs typeface="Roboto"/>
                <a:sym typeface="Roboto"/>
              </a:endParaRPr>
            </a:p>
            <a:p>
              <a:pPr indent="-304800" lvl="0" marL="457200" rtl="0" algn="l">
                <a:lnSpc>
                  <a:spcPct val="115000"/>
                </a:lnSpc>
                <a:spcBef>
                  <a:spcPts val="0"/>
                </a:spcBef>
                <a:spcAft>
                  <a:spcPts val="0"/>
                </a:spcAft>
                <a:buClr>
                  <a:schemeClr val="lt1"/>
                </a:buClr>
                <a:buSzPts val="1200"/>
                <a:buFont typeface="Roboto"/>
                <a:buChar char="●"/>
              </a:pPr>
              <a:r>
                <a:rPr lang="en-US" sz="1200">
                  <a:solidFill>
                    <a:schemeClr val="lt1"/>
                  </a:solidFill>
                  <a:latin typeface="Roboto"/>
                  <a:ea typeface="Roboto"/>
                  <a:cs typeface="Roboto"/>
                  <a:sym typeface="Roboto"/>
                </a:rPr>
                <a:t>Measured rail voltage and startup behavior</a:t>
              </a:r>
              <a:endParaRPr sz="1200">
                <a:solidFill>
                  <a:schemeClr val="lt1"/>
                </a:solidFill>
                <a:latin typeface="Roboto"/>
                <a:ea typeface="Roboto"/>
                <a:cs typeface="Roboto"/>
                <a:sym typeface="Roboto"/>
              </a:endParaRPr>
            </a:p>
            <a:p>
              <a:pPr indent="0" lvl="0" marL="457200" rtl="0" algn="l">
                <a:lnSpc>
                  <a:spcPct val="115000"/>
                </a:lnSpc>
                <a:spcBef>
                  <a:spcPts val="0"/>
                </a:spcBef>
                <a:spcAft>
                  <a:spcPts val="0"/>
                </a:spcAft>
                <a:buNone/>
              </a:pPr>
              <a:r>
                <a:t/>
              </a:r>
              <a:endParaRPr sz="1200">
                <a:solidFill>
                  <a:schemeClr val="lt1"/>
                </a:solidFill>
                <a:latin typeface="Roboto"/>
                <a:ea typeface="Roboto"/>
                <a:cs typeface="Roboto"/>
                <a:sym typeface="Roboto"/>
              </a:endParaRPr>
            </a:p>
            <a:p>
              <a:pPr indent="-304800" lvl="0" marL="457200" rtl="0" algn="l">
                <a:lnSpc>
                  <a:spcPct val="115000"/>
                </a:lnSpc>
                <a:spcBef>
                  <a:spcPts val="0"/>
                </a:spcBef>
                <a:spcAft>
                  <a:spcPts val="0"/>
                </a:spcAft>
                <a:buClr>
                  <a:schemeClr val="lt1"/>
                </a:buClr>
                <a:buSzPts val="1200"/>
                <a:buFont typeface="Roboto"/>
                <a:buChar char="●"/>
              </a:pPr>
              <a:r>
                <a:rPr lang="en-US" sz="1200">
                  <a:solidFill>
                    <a:schemeClr val="lt1"/>
                  </a:solidFill>
                  <a:latin typeface="Roboto"/>
                  <a:ea typeface="Roboto"/>
                  <a:cs typeface="Roboto"/>
                  <a:sym typeface="Roboto"/>
                </a:rPr>
                <a:t>Performed load-step and Vin-step tests on all rails</a:t>
              </a:r>
              <a:endParaRPr sz="1200">
                <a:solidFill>
                  <a:schemeClr val="lt1"/>
                </a:solidFill>
                <a:latin typeface="Roboto"/>
                <a:ea typeface="Roboto"/>
                <a:cs typeface="Roboto"/>
                <a:sym typeface="Roboto"/>
              </a:endParaRPr>
            </a:p>
            <a:p>
              <a:pPr indent="0" lvl="0" marL="457200" rtl="0" algn="l">
                <a:lnSpc>
                  <a:spcPct val="115000"/>
                </a:lnSpc>
                <a:spcBef>
                  <a:spcPts val="0"/>
                </a:spcBef>
                <a:spcAft>
                  <a:spcPts val="0"/>
                </a:spcAft>
                <a:buNone/>
              </a:pPr>
              <a:r>
                <a:t/>
              </a:r>
              <a:endParaRPr sz="1200">
                <a:solidFill>
                  <a:schemeClr val="lt1"/>
                </a:solidFill>
                <a:latin typeface="Roboto"/>
                <a:ea typeface="Roboto"/>
                <a:cs typeface="Roboto"/>
                <a:sym typeface="Roboto"/>
              </a:endParaRPr>
            </a:p>
            <a:p>
              <a:pPr indent="-304800" lvl="0" marL="457200" rtl="0" algn="l">
                <a:lnSpc>
                  <a:spcPct val="115000"/>
                </a:lnSpc>
                <a:spcBef>
                  <a:spcPts val="0"/>
                </a:spcBef>
                <a:spcAft>
                  <a:spcPts val="0"/>
                </a:spcAft>
                <a:buClr>
                  <a:schemeClr val="lt1"/>
                </a:buClr>
                <a:buSzPts val="1200"/>
                <a:buFont typeface="Roboto"/>
                <a:buChar char="●"/>
              </a:pPr>
              <a:r>
                <a:rPr lang="en-US" sz="1200">
                  <a:solidFill>
                    <a:schemeClr val="lt1"/>
                  </a:solidFill>
                  <a:latin typeface="Roboto"/>
                  <a:ea typeface="Roboto"/>
                  <a:cs typeface="Roboto"/>
                  <a:sym typeface="Roboto"/>
                </a:rPr>
                <a:t>Confirmed voltage rail accuracy (±2% tolerance) </a:t>
              </a:r>
              <a:endParaRPr sz="1200">
                <a:solidFill>
                  <a:schemeClr val="lt1"/>
                </a:solidFill>
                <a:latin typeface="Roboto"/>
                <a:ea typeface="Roboto"/>
                <a:cs typeface="Roboto"/>
                <a:sym typeface="Roboto"/>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g3a9c34bde78_0_1"/>
          <p:cNvSpPr txBox="1"/>
          <p:nvPr/>
        </p:nvSpPr>
        <p:spPr>
          <a:xfrm>
            <a:off x="1507050" y="699900"/>
            <a:ext cx="6129900" cy="615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b="1" lang="en-US" sz="2800">
                <a:solidFill>
                  <a:schemeClr val="dk1"/>
                </a:solidFill>
              </a:rPr>
              <a:t>Power Rail Specifications</a:t>
            </a:r>
            <a:endParaRPr b="1" i="0" sz="2800" u="none" cap="none" strike="noStrike">
              <a:solidFill>
                <a:schemeClr val="dk1"/>
              </a:solidFill>
              <a:latin typeface="Arial"/>
              <a:ea typeface="Arial"/>
              <a:cs typeface="Arial"/>
              <a:sym typeface="Arial"/>
            </a:endParaRPr>
          </a:p>
        </p:txBody>
      </p:sp>
      <p:graphicFrame>
        <p:nvGraphicFramePr>
          <p:cNvPr id="82" name="Google Shape;82;g3a9c34bde78_0_1"/>
          <p:cNvGraphicFramePr/>
          <p:nvPr/>
        </p:nvGraphicFramePr>
        <p:xfrm>
          <a:off x="952500" y="1355800"/>
          <a:ext cx="3000000" cy="3000000"/>
        </p:xfrm>
        <a:graphic>
          <a:graphicData uri="http://schemas.openxmlformats.org/drawingml/2006/table">
            <a:tbl>
              <a:tblPr>
                <a:noFill/>
                <a:tableStyleId>{1EE52922-C86D-4DCA-A754-2C8424D269C7}</a:tableStyleId>
              </a:tblPr>
              <a:tblGrid>
                <a:gridCol w="1409225"/>
                <a:gridCol w="1177625"/>
                <a:gridCol w="2143500"/>
                <a:gridCol w="1423625"/>
                <a:gridCol w="1085025"/>
              </a:tblGrid>
              <a:tr h="381000">
                <a:tc>
                  <a:txBody>
                    <a:bodyPr/>
                    <a:lstStyle/>
                    <a:p>
                      <a:pPr indent="0" lvl="0" marL="0" rtl="0" algn="ctr">
                        <a:spcBef>
                          <a:spcPts val="0"/>
                        </a:spcBef>
                        <a:spcAft>
                          <a:spcPts val="0"/>
                        </a:spcAft>
                        <a:buNone/>
                      </a:pPr>
                      <a:r>
                        <a:rPr b="1" lang="en-US"/>
                        <a:t>Power Rail</a:t>
                      </a:r>
                      <a:endParaRPr b="1"/>
                    </a:p>
                  </a:txBody>
                  <a:tcPr marT="91425" marB="91425" marR="91425" marL="91425">
                    <a:solidFill>
                      <a:srgbClr val="D9D9D9"/>
                    </a:solidFill>
                  </a:tcPr>
                </a:tc>
                <a:tc>
                  <a:txBody>
                    <a:bodyPr/>
                    <a:lstStyle/>
                    <a:p>
                      <a:pPr indent="0" lvl="0" marL="0" rtl="0" algn="ctr">
                        <a:spcBef>
                          <a:spcPts val="0"/>
                        </a:spcBef>
                        <a:spcAft>
                          <a:spcPts val="0"/>
                        </a:spcAft>
                        <a:buNone/>
                      </a:pPr>
                      <a:r>
                        <a:rPr b="1" lang="en-US"/>
                        <a:t>Description</a:t>
                      </a:r>
                      <a:endParaRPr b="1"/>
                    </a:p>
                  </a:txBody>
                  <a:tcPr marT="91425" marB="91425" marR="91425" marL="91425">
                    <a:solidFill>
                      <a:srgbClr val="D9D9D9"/>
                    </a:solidFill>
                  </a:tcPr>
                </a:tc>
                <a:tc>
                  <a:txBody>
                    <a:bodyPr/>
                    <a:lstStyle/>
                    <a:p>
                      <a:pPr indent="0" lvl="0" marL="0" rtl="0" algn="ctr">
                        <a:spcBef>
                          <a:spcPts val="0"/>
                        </a:spcBef>
                        <a:spcAft>
                          <a:spcPts val="0"/>
                        </a:spcAft>
                        <a:buNone/>
                      </a:pPr>
                      <a:r>
                        <a:rPr b="1" lang="en-US"/>
                        <a:t>Maximum Expected Current Output</a:t>
                      </a:r>
                      <a:endParaRPr b="1"/>
                    </a:p>
                  </a:txBody>
                  <a:tcPr marT="91425" marB="91425" marR="91425" marL="91425">
                    <a:solidFill>
                      <a:srgbClr val="D9D9D9"/>
                    </a:solidFill>
                  </a:tcPr>
                </a:tc>
                <a:tc>
                  <a:txBody>
                    <a:bodyPr/>
                    <a:lstStyle/>
                    <a:p>
                      <a:pPr indent="0" lvl="0" marL="0" rtl="0" algn="ctr">
                        <a:spcBef>
                          <a:spcPts val="0"/>
                        </a:spcBef>
                        <a:spcAft>
                          <a:spcPts val="0"/>
                        </a:spcAft>
                        <a:buNone/>
                      </a:pPr>
                      <a:r>
                        <a:rPr b="1" lang="en-US"/>
                        <a:t>Required Resistor for Full-Load Test</a:t>
                      </a:r>
                      <a:endParaRPr b="1"/>
                    </a:p>
                  </a:txBody>
                  <a:tcPr marT="91425" marB="91425" marR="91425" marL="91425">
                    <a:solidFill>
                      <a:srgbClr val="D9D9D9"/>
                    </a:solidFill>
                  </a:tcPr>
                </a:tc>
                <a:tc>
                  <a:txBody>
                    <a:bodyPr/>
                    <a:lstStyle/>
                    <a:p>
                      <a:pPr indent="0" lvl="0" marL="0" rtl="0" algn="ctr">
                        <a:spcBef>
                          <a:spcPts val="0"/>
                        </a:spcBef>
                        <a:spcAft>
                          <a:spcPts val="0"/>
                        </a:spcAft>
                        <a:buNone/>
                      </a:pPr>
                      <a:r>
                        <a:rPr b="1" lang="en-US"/>
                        <a:t>Min Power Dissipated</a:t>
                      </a:r>
                      <a:endParaRPr b="1"/>
                    </a:p>
                  </a:txBody>
                  <a:tcPr marT="91425" marB="91425" marR="91425" marL="91425">
                    <a:solidFill>
                      <a:srgbClr val="D9D9D9"/>
                    </a:solidFill>
                  </a:tcPr>
                </a:tc>
              </a:tr>
              <a:tr h="381000">
                <a:tc>
                  <a:txBody>
                    <a:bodyPr/>
                    <a:lstStyle/>
                    <a:p>
                      <a:pPr indent="0" lvl="0" marL="0" rtl="0" algn="ctr">
                        <a:spcBef>
                          <a:spcPts val="0"/>
                        </a:spcBef>
                        <a:spcAft>
                          <a:spcPts val="0"/>
                        </a:spcAft>
                        <a:buNone/>
                      </a:pPr>
                      <a:r>
                        <a:rPr b="1" lang="en-US"/>
                        <a:t>+3.3V</a:t>
                      </a:r>
                      <a:endParaRPr b="1"/>
                    </a:p>
                  </a:txBody>
                  <a:tcPr marT="91425" marB="91425" marR="91425" marL="91425"/>
                </a:tc>
                <a:tc>
                  <a:txBody>
                    <a:bodyPr/>
                    <a:lstStyle/>
                    <a:p>
                      <a:pPr indent="0" lvl="0" marL="0" rtl="0" algn="ctr">
                        <a:spcBef>
                          <a:spcPts val="0"/>
                        </a:spcBef>
                        <a:spcAft>
                          <a:spcPts val="0"/>
                        </a:spcAft>
                        <a:buNone/>
                      </a:pPr>
                      <a:r>
                        <a:rPr lang="en-US"/>
                        <a:t>Main Digital Load (FPGA/MCU)</a:t>
                      </a:r>
                      <a:endParaRPr/>
                    </a:p>
                  </a:txBody>
                  <a:tcPr marT="91425" marB="91425" marR="91425" marL="91425"/>
                </a:tc>
                <a:tc>
                  <a:txBody>
                    <a:bodyPr/>
                    <a:lstStyle/>
                    <a:p>
                      <a:pPr indent="0" lvl="0" marL="0" rtl="0" algn="ctr">
                        <a:spcBef>
                          <a:spcPts val="0"/>
                        </a:spcBef>
                        <a:spcAft>
                          <a:spcPts val="0"/>
                        </a:spcAft>
                        <a:buNone/>
                      </a:pPr>
                      <a:r>
                        <a:rPr lang="en-US"/>
                        <a:t>1.26 A (0.5 A headroom)</a:t>
                      </a:r>
                      <a:endParaRPr/>
                    </a:p>
                  </a:txBody>
                  <a:tcPr marT="91425" marB="91425" marR="91425" marL="91425"/>
                </a:tc>
                <a:tc>
                  <a:txBody>
                    <a:bodyPr/>
                    <a:lstStyle/>
                    <a:p>
                      <a:pPr indent="0" lvl="0" marL="0" rtl="0" algn="ctr">
                        <a:spcBef>
                          <a:spcPts val="0"/>
                        </a:spcBef>
                        <a:spcAft>
                          <a:spcPts val="0"/>
                        </a:spcAft>
                        <a:buNone/>
                      </a:pPr>
                      <a:r>
                        <a:rPr lang="en-US"/>
                        <a:t>2.62 Ω</a:t>
                      </a:r>
                      <a:endParaRPr/>
                    </a:p>
                  </a:txBody>
                  <a:tcPr marT="91425" marB="91425" marR="91425" marL="91425"/>
                </a:tc>
                <a:tc>
                  <a:txBody>
                    <a:bodyPr/>
                    <a:lstStyle/>
                    <a:p>
                      <a:pPr indent="0" lvl="0" marL="0" rtl="0" algn="ctr">
                        <a:spcBef>
                          <a:spcPts val="0"/>
                        </a:spcBef>
                        <a:spcAft>
                          <a:spcPts val="0"/>
                        </a:spcAft>
                        <a:buNone/>
                      </a:pPr>
                      <a:r>
                        <a:rPr lang="en-US"/>
                        <a:t>4.16 W</a:t>
                      </a:r>
                      <a:endParaRPr/>
                    </a:p>
                  </a:txBody>
                  <a:tcPr marT="91425" marB="91425" marR="91425" marL="91425"/>
                </a:tc>
              </a:tr>
              <a:tr h="381000">
                <a:tc>
                  <a:txBody>
                    <a:bodyPr/>
                    <a:lstStyle/>
                    <a:p>
                      <a:pPr indent="0" lvl="0" marL="0" rtl="0" algn="ctr">
                        <a:spcBef>
                          <a:spcPts val="0"/>
                        </a:spcBef>
                        <a:spcAft>
                          <a:spcPts val="0"/>
                        </a:spcAft>
                        <a:buNone/>
                      </a:pPr>
                      <a:r>
                        <a:rPr b="1" lang="en-US"/>
                        <a:t>+3.3V_CLEAN</a:t>
                      </a:r>
                      <a:endParaRPr b="1"/>
                    </a:p>
                  </a:txBody>
                  <a:tcPr marT="91425" marB="91425" marR="91425" marL="91425"/>
                </a:tc>
                <a:tc>
                  <a:txBody>
                    <a:bodyPr/>
                    <a:lstStyle/>
                    <a:p>
                      <a:pPr indent="0" lvl="0" marL="0" rtl="0" algn="ctr">
                        <a:spcBef>
                          <a:spcPts val="0"/>
                        </a:spcBef>
                        <a:spcAft>
                          <a:spcPts val="0"/>
                        </a:spcAft>
                        <a:buNone/>
                      </a:pPr>
                      <a:r>
                        <a:rPr lang="en-US"/>
                        <a:t>DAC VDD</a:t>
                      </a:r>
                      <a:endParaRPr/>
                    </a:p>
                  </a:txBody>
                  <a:tcPr marT="91425" marB="91425" marR="91425" marL="91425"/>
                </a:tc>
                <a:tc>
                  <a:txBody>
                    <a:bodyPr/>
                    <a:lstStyle/>
                    <a:p>
                      <a:pPr indent="0" lvl="0" marL="0" rtl="0" algn="ctr">
                        <a:spcBef>
                          <a:spcPts val="0"/>
                        </a:spcBef>
                        <a:spcAft>
                          <a:spcPts val="0"/>
                        </a:spcAft>
                        <a:buNone/>
                      </a:pPr>
                      <a:r>
                        <a:rPr lang="en-US"/>
                        <a:t>Minimal (~ 5 µA)</a:t>
                      </a:r>
                      <a:endParaRPr/>
                    </a:p>
                  </a:txBody>
                  <a:tcPr marT="91425" marB="91425" marR="91425" marL="91425"/>
                </a:tc>
                <a:tc>
                  <a:txBody>
                    <a:bodyPr/>
                    <a:lstStyle/>
                    <a:p>
                      <a:pPr indent="0" lvl="0" marL="0" rtl="0" algn="ctr">
                        <a:spcBef>
                          <a:spcPts val="0"/>
                        </a:spcBef>
                        <a:spcAft>
                          <a:spcPts val="0"/>
                        </a:spcAft>
                        <a:buNone/>
                      </a:pPr>
                      <a:r>
                        <a:rPr lang="en-US"/>
                        <a:t>Included in main +3.3V test</a:t>
                      </a: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en-US"/>
                        <a:t>N/A</a:t>
                      </a:r>
                      <a:endParaRPr/>
                    </a:p>
                  </a:txBody>
                  <a:tcPr marT="91425" marB="91425" marR="91425" marL="91425"/>
                </a:tc>
              </a:tr>
              <a:tr h="381000">
                <a:tc>
                  <a:txBody>
                    <a:bodyPr/>
                    <a:lstStyle/>
                    <a:p>
                      <a:pPr indent="0" lvl="0" marL="0" rtl="0" algn="ctr">
                        <a:spcBef>
                          <a:spcPts val="0"/>
                        </a:spcBef>
                        <a:spcAft>
                          <a:spcPts val="0"/>
                        </a:spcAft>
                        <a:buNone/>
                      </a:pPr>
                      <a:r>
                        <a:rPr b="1" lang="en-US"/>
                        <a:t>+5V</a:t>
                      </a:r>
                      <a:endParaRPr b="1"/>
                    </a:p>
                  </a:txBody>
                  <a:tcPr marT="91425" marB="91425" marR="91425" marL="91425"/>
                </a:tc>
                <a:tc>
                  <a:txBody>
                    <a:bodyPr/>
                    <a:lstStyle/>
                    <a:p>
                      <a:pPr indent="0" lvl="0" marL="0" rtl="0" algn="ctr">
                        <a:spcBef>
                          <a:spcPts val="0"/>
                        </a:spcBef>
                        <a:spcAft>
                          <a:spcPts val="0"/>
                        </a:spcAft>
                        <a:buNone/>
                      </a:pPr>
                      <a:r>
                        <a:rPr lang="en-US"/>
                        <a:t>DAC VREF</a:t>
                      </a:r>
                      <a:endParaRPr/>
                    </a:p>
                  </a:txBody>
                  <a:tcPr marT="91425" marB="91425" marR="91425" marL="91425"/>
                </a:tc>
                <a:tc>
                  <a:txBody>
                    <a:bodyPr/>
                    <a:lstStyle/>
                    <a:p>
                      <a:pPr indent="0" lvl="0" marL="0" rtl="0" algn="ctr">
                        <a:spcBef>
                          <a:spcPts val="0"/>
                        </a:spcBef>
                        <a:spcAft>
                          <a:spcPts val="0"/>
                        </a:spcAft>
                        <a:buNone/>
                      </a:pPr>
                      <a:r>
                        <a:rPr lang="en-US"/>
                        <a:t>2 mA</a:t>
                      </a:r>
                      <a:endParaRPr/>
                    </a:p>
                  </a:txBody>
                  <a:tcPr marT="91425" marB="91425" marR="91425" marL="91425"/>
                </a:tc>
                <a:tc>
                  <a:txBody>
                    <a:bodyPr/>
                    <a:lstStyle/>
                    <a:p>
                      <a:pPr indent="0" lvl="0" marL="0" rtl="0" algn="ctr">
                        <a:spcBef>
                          <a:spcPts val="0"/>
                        </a:spcBef>
                        <a:spcAft>
                          <a:spcPts val="0"/>
                        </a:spcAft>
                        <a:buNone/>
                      </a:pPr>
                      <a:r>
                        <a:rPr lang="en-US"/>
                        <a:t>2.5 kΩ</a:t>
                      </a:r>
                      <a:endParaRPr/>
                    </a:p>
                  </a:txBody>
                  <a:tcPr marT="91425" marB="91425" marR="91425" marL="91425"/>
                </a:tc>
                <a:tc>
                  <a:txBody>
                    <a:bodyPr/>
                    <a:lstStyle/>
                    <a:p>
                      <a:pPr indent="0" lvl="0" marL="0" rtl="0" algn="ctr">
                        <a:spcBef>
                          <a:spcPts val="0"/>
                        </a:spcBef>
                        <a:spcAft>
                          <a:spcPts val="0"/>
                        </a:spcAft>
                        <a:buNone/>
                      </a:pPr>
                      <a:r>
                        <a:rPr lang="en-US"/>
                        <a:t>0.01 W</a:t>
                      </a:r>
                      <a:endParaRPr/>
                    </a:p>
                  </a:txBody>
                  <a:tcPr marT="91425" marB="91425" marR="91425" marL="91425"/>
                </a:tc>
              </a:tr>
              <a:tr h="381000">
                <a:tc>
                  <a:txBody>
                    <a:bodyPr/>
                    <a:lstStyle/>
                    <a:p>
                      <a:pPr indent="0" lvl="0" marL="0" rtl="0" algn="ctr">
                        <a:spcBef>
                          <a:spcPts val="0"/>
                        </a:spcBef>
                        <a:spcAft>
                          <a:spcPts val="0"/>
                        </a:spcAft>
                        <a:buNone/>
                      </a:pPr>
                      <a:r>
                        <a:rPr b="1" lang="en-US"/>
                        <a:t>+10V</a:t>
                      </a:r>
                      <a:endParaRPr b="1"/>
                    </a:p>
                  </a:txBody>
                  <a:tcPr marT="91425" marB="91425" marR="91425" marL="91425"/>
                </a:tc>
                <a:tc>
                  <a:txBody>
                    <a:bodyPr/>
                    <a:lstStyle/>
                    <a:p>
                      <a:pPr indent="0" lvl="0" marL="0" rtl="0" algn="ctr">
                        <a:spcBef>
                          <a:spcPts val="0"/>
                        </a:spcBef>
                        <a:spcAft>
                          <a:spcPts val="0"/>
                        </a:spcAft>
                        <a:buNone/>
                      </a:pPr>
                      <a:r>
                        <a:rPr lang="en-US"/>
                        <a:t>Analog Rail</a:t>
                      </a:r>
                      <a:endParaRPr/>
                    </a:p>
                  </a:txBody>
                  <a:tcPr marT="91425" marB="91425" marR="91425" marL="91425"/>
                </a:tc>
                <a:tc>
                  <a:txBody>
                    <a:bodyPr/>
                    <a:lstStyle/>
                    <a:p>
                      <a:pPr indent="0" lvl="0" marL="0" rtl="0" algn="ctr">
                        <a:spcBef>
                          <a:spcPts val="0"/>
                        </a:spcBef>
                        <a:spcAft>
                          <a:spcPts val="0"/>
                        </a:spcAft>
                        <a:buNone/>
                      </a:pPr>
                      <a:r>
                        <a:rPr lang="en-US"/>
                        <a:t>0.6 A (0.3 A headroom)</a:t>
                      </a:r>
                      <a:endParaRPr/>
                    </a:p>
                  </a:txBody>
                  <a:tcPr marT="91425" marB="91425" marR="91425" marL="91425"/>
                </a:tc>
                <a:tc>
                  <a:txBody>
                    <a:bodyPr/>
                    <a:lstStyle/>
                    <a:p>
                      <a:pPr indent="0" lvl="0" marL="0" rtl="0" algn="ctr">
                        <a:spcBef>
                          <a:spcPts val="0"/>
                        </a:spcBef>
                        <a:spcAft>
                          <a:spcPts val="0"/>
                        </a:spcAft>
                        <a:buNone/>
                      </a:pPr>
                      <a:r>
                        <a:rPr lang="en-US"/>
                        <a:t>16.7 Ω</a:t>
                      </a:r>
                      <a:endParaRPr/>
                    </a:p>
                  </a:txBody>
                  <a:tcPr marT="91425" marB="91425" marR="91425" marL="91425"/>
                </a:tc>
                <a:tc>
                  <a:txBody>
                    <a:bodyPr/>
                    <a:lstStyle/>
                    <a:p>
                      <a:pPr indent="0" lvl="0" marL="0" rtl="0" algn="ctr">
                        <a:spcBef>
                          <a:spcPts val="0"/>
                        </a:spcBef>
                        <a:spcAft>
                          <a:spcPts val="0"/>
                        </a:spcAft>
                        <a:buNone/>
                      </a:pPr>
                      <a:r>
                        <a:rPr lang="en-US"/>
                        <a:t>6 W</a:t>
                      </a:r>
                      <a:endParaRPr/>
                    </a:p>
                  </a:txBody>
                  <a:tcPr marT="91425" marB="91425" marR="91425" marL="91425"/>
                </a:tc>
              </a:tr>
              <a:tr h="381000">
                <a:tc>
                  <a:txBody>
                    <a:bodyPr/>
                    <a:lstStyle/>
                    <a:p>
                      <a:pPr indent="0" lvl="0" marL="0" rtl="0" algn="ctr">
                        <a:spcBef>
                          <a:spcPts val="0"/>
                        </a:spcBef>
                        <a:spcAft>
                          <a:spcPts val="0"/>
                        </a:spcAft>
                        <a:buNone/>
                      </a:pPr>
                      <a:r>
                        <a:rPr b="1" lang="en-US"/>
                        <a:t>-10V</a:t>
                      </a:r>
                      <a:endParaRPr b="1"/>
                    </a:p>
                  </a:txBody>
                  <a:tcPr marT="91425" marB="91425" marR="91425" marL="91425"/>
                </a:tc>
                <a:tc>
                  <a:txBody>
                    <a:bodyPr/>
                    <a:lstStyle/>
                    <a:p>
                      <a:pPr indent="0" lvl="0" marL="0" rtl="0" algn="ctr">
                        <a:spcBef>
                          <a:spcPts val="0"/>
                        </a:spcBef>
                        <a:spcAft>
                          <a:spcPts val="0"/>
                        </a:spcAft>
                        <a:buNone/>
                      </a:pPr>
                      <a:r>
                        <a:rPr lang="en-US"/>
                        <a:t>Analog Rail</a:t>
                      </a: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en-US">
                          <a:solidFill>
                            <a:schemeClr val="dk1"/>
                          </a:solidFill>
                        </a:rPr>
                        <a:t>0.6 A (0.3 A headroom)</a:t>
                      </a:r>
                      <a:endParaRPr/>
                    </a:p>
                  </a:txBody>
                  <a:tcPr marT="91425" marB="91425" marR="91425" marL="91425"/>
                </a:tc>
                <a:tc>
                  <a:txBody>
                    <a:bodyPr/>
                    <a:lstStyle/>
                    <a:p>
                      <a:pPr indent="0" lvl="0" marL="0" rtl="0" algn="ctr">
                        <a:spcBef>
                          <a:spcPts val="0"/>
                        </a:spcBef>
                        <a:spcAft>
                          <a:spcPts val="0"/>
                        </a:spcAft>
                        <a:buNone/>
                      </a:pPr>
                      <a:r>
                        <a:rPr lang="en-US"/>
                        <a:t>16.7 Ω</a:t>
                      </a:r>
                      <a:endParaRPr/>
                    </a:p>
                  </a:txBody>
                  <a:tcPr marT="91425" marB="91425" marR="91425" marL="91425"/>
                </a:tc>
                <a:tc>
                  <a:txBody>
                    <a:bodyPr/>
                    <a:lstStyle/>
                    <a:p>
                      <a:pPr indent="0" lvl="0" marL="0" rtl="0" algn="ctr">
                        <a:spcBef>
                          <a:spcPts val="0"/>
                        </a:spcBef>
                        <a:spcAft>
                          <a:spcPts val="0"/>
                        </a:spcAft>
                        <a:buNone/>
                      </a:pPr>
                      <a:r>
                        <a:rPr lang="en-US"/>
                        <a:t>6 W</a:t>
                      </a:r>
                      <a:endParaRPr/>
                    </a:p>
                  </a:txBody>
                  <a:tcPr marT="91425" marB="91425" marR="91425" marL="91425"/>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6" name="Shape 86"/>
        <p:cNvGrpSpPr/>
        <p:nvPr/>
      </p:nvGrpSpPr>
      <p:grpSpPr>
        <a:xfrm>
          <a:off x="0" y="0"/>
          <a:ext cx="0" cy="0"/>
          <a:chOff x="0" y="0"/>
          <a:chExt cx="0" cy="0"/>
        </a:xfrm>
      </p:grpSpPr>
      <p:sp>
        <p:nvSpPr>
          <p:cNvPr id="87" name="Google Shape;87;g3ab8b2de681_0_92"/>
          <p:cNvSpPr txBox="1"/>
          <p:nvPr/>
        </p:nvSpPr>
        <p:spPr>
          <a:xfrm>
            <a:off x="3505725" y="92150"/>
            <a:ext cx="6129900" cy="569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b="1" lang="en-US" sz="2500">
                <a:solidFill>
                  <a:schemeClr val="dk1"/>
                </a:solidFill>
              </a:rPr>
              <a:t>+5V Rail, No Load Test</a:t>
            </a:r>
            <a:endParaRPr b="1" i="0" sz="2500" u="none" cap="none" strike="noStrike">
              <a:solidFill>
                <a:schemeClr val="dk1"/>
              </a:solidFill>
              <a:latin typeface="Arial"/>
              <a:ea typeface="Arial"/>
              <a:cs typeface="Arial"/>
              <a:sym typeface="Arial"/>
            </a:endParaRPr>
          </a:p>
        </p:txBody>
      </p:sp>
      <p:pic>
        <p:nvPicPr>
          <p:cNvPr id="88" name="Google Shape;88;g3ab8b2de681_0_92"/>
          <p:cNvPicPr preferRelativeResize="0"/>
          <p:nvPr/>
        </p:nvPicPr>
        <p:blipFill rotWithShape="1">
          <a:blip r:embed="rId3">
            <a:alphaModFix/>
          </a:blip>
          <a:srcRect b="30430" l="4601" r="15366" t="11352"/>
          <a:stretch/>
        </p:blipFill>
        <p:spPr>
          <a:xfrm>
            <a:off x="2447725" y="862625"/>
            <a:ext cx="3745202" cy="363214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2" name="Shape 92"/>
        <p:cNvGrpSpPr/>
        <p:nvPr/>
      </p:nvGrpSpPr>
      <p:grpSpPr>
        <a:xfrm>
          <a:off x="0" y="0"/>
          <a:ext cx="0" cy="0"/>
          <a:chOff x="0" y="0"/>
          <a:chExt cx="0" cy="0"/>
        </a:xfrm>
      </p:grpSpPr>
      <p:sp>
        <p:nvSpPr>
          <p:cNvPr id="93" name="Google Shape;93;g3ab8b2de681_0_97"/>
          <p:cNvSpPr txBox="1"/>
          <p:nvPr/>
        </p:nvSpPr>
        <p:spPr>
          <a:xfrm>
            <a:off x="3537375" y="92150"/>
            <a:ext cx="6129900" cy="569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b="1" lang="en-US" sz="2500">
                <a:solidFill>
                  <a:schemeClr val="dk1"/>
                </a:solidFill>
              </a:rPr>
              <a:t>+3.3V Rail, No Load Test</a:t>
            </a:r>
            <a:endParaRPr b="1" i="0" sz="2500" u="none" cap="none" strike="noStrike">
              <a:solidFill>
                <a:schemeClr val="dk1"/>
              </a:solidFill>
              <a:latin typeface="Arial"/>
              <a:ea typeface="Arial"/>
              <a:cs typeface="Arial"/>
              <a:sym typeface="Arial"/>
            </a:endParaRPr>
          </a:p>
        </p:txBody>
      </p:sp>
      <p:pic>
        <p:nvPicPr>
          <p:cNvPr id="94" name="Google Shape;94;g3ab8b2de681_0_97"/>
          <p:cNvPicPr preferRelativeResize="0"/>
          <p:nvPr/>
        </p:nvPicPr>
        <p:blipFill rotWithShape="1">
          <a:blip r:embed="rId3">
            <a:alphaModFix/>
          </a:blip>
          <a:srcRect b="16740" l="0" r="0" t="6010"/>
          <a:stretch/>
        </p:blipFill>
        <p:spPr>
          <a:xfrm>
            <a:off x="458750" y="906978"/>
            <a:ext cx="3886625" cy="4003251"/>
          </a:xfrm>
          <a:prstGeom prst="rect">
            <a:avLst/>
          </a:prstGeom>
          <a:noFill/>
          <a:ln>
            <a:noFill/>
          </a:ln>
        </p:spPr>
      </p:pic>
      <p:pic>
        <p:nvPicPr>
          <p:cNvPr id="95" name="Google Shape;95;g3ab8b2de681_0_97"/>
          <p:cNvPicPr preferRelativeResize="0"/>
          <p:nvPr/>
        </p:nvPicPr>
        <p:blipFill rotWithShape="1">
          <a:blip r:embed="rId4">
            <a:alphaModFix/>
          </a:blip>
          <a:srcRect b="-4338" l="0" r="0" t="6853"/>
          <a:stretch/>
        </p:blipFill>
        <p:spPr>
          <a:xfrm>
            <a:off x="5207225" y="906975"/>
            <a:ext cx="3338400" cy="415877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9" name="Shape 99"/>
        <p:cNvGrpSpPr/>
        <p:nvPr/>
      </p:nvGrpSpPr>
      <p:grpSpPr>
        <a:xfrm>
          <a:off x="0" y="0"/>
          <a:ext cx="0" cy="0"/>
          <a:chOff x="0" y="0"/>
          <a:chExt cx="0" cy="0"/>
        </a:xfrm>
      </p:grpSpPr>
      <p:sp>
        <p:nvSpPr>
          <p:cNvPr id="100" name="Google Shape;100;g3ab8b2de681_0_102"/>
          <p:cNvSpPr txBox="1"/>
          <p:nvPr/>
        </p:nvSpPr>
        <p:spPr>
          <a:xfrm>
            <a:off x="3537375" y="92150"/>
            <a:ext cx="6129900" cy="569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b="1" lang="en-US" sz="2500">
                <a:solidFill>
                  <a:schemeClr val="dk1"/>
                </a:solidFill>
              </a:rPr>
              <a:t>+10V Rail, No Load Test</a:t>
            </a:r>
            <a:endParaRPr b="1" i="0" sz="2500" u="none" cap="none" strike="noStrike">
              <a:solidFill>
                <a:schemeClr val="dk1"/>
              </a:solidFill>
              <a:latin typeface="Arial"/>
              <a:ea typeface="Arial"/>
              <a:cs typeface="Arial"/>
              <a:sym typeface="Arial"/>
            </a:endParaRPr>
          </a:p>
        </p:txBody>
      </p:sp>
      <p:pic>
        <p:nvPicPr>
          <p:cNvPr id="101" name="Google Shape;101;g3ab8b2de681_0_102"/>
          <p:cNvPicPr preferRelativeResize="0"/>
          <p:nvPr/>
        </p:nvPicPr>
        <p:blipFill rotWithShape="1">
          <a:blip r:embed="rId3">
            <a:alphaModFix/>
          </a:blip>
          <a:srcRect b="20615" l="0" r="0" t="6946"/>
          <a:stretch/>
        </p:blipFill>
        <p:spPr>
          <a:xfrm>
            <a:off x="2831200" y="886825"/>
            <a:ext cx="3481601" cy="336262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5" name="Shape 105"/>
        <p:cNvGrpSpPr/>
        <p:nvPr/>
      </p:nvGrpSpPr>
      <p:grpSpPr>
        <a:xfrm>
          <a:off x="0" y="0"/>
          <a:ext cx="0" cy="0"/>
          <a:chOff x="0" y="0"/>
          <a:chExt cx="0" cy="0"/>
        </a:xfrm>
      </p:grpSpPr>
      <p:sp>
        <p:nvSpPr>
          <p:cNvPr id="106" name="Google Shape;106;g3ab8b2de681_0_106"/>
          <p:cNvSpPr txBox="1"/>
          <p:nvPr/>
        </p:nvSpPr>
        <p:spPr>
          <a:xfrm>
            <a:off x="3537375" y="92150"/>
            <a:ext cx="6129900" cy="569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b="1" lang="en-US" sz="2500">
                <a:solidFill>
                  <a:schemeClr val="dk1"/>
                </a:solidFill>
              </a:rPr>
              <a:t>-</a:t>
            </a:r>
            <a:r>
              <a:rPr b="1" lang="en-US" sz="2500">
                <a:solidFill>
                  <a:schemeClr val="dk1"/>
                </a:solidFill>
              </a:rPr>
              <a:t>10V Rail, No Load Test</a:t>
            </a:r>
            <a:endParaRPr b="1" i="0" sz="2500" u="none" cap="none" strike="noStrike">
              <a:solidFill>
                <a:schemeClr val="dk1"/>
              </a:solidFill>
              <a:latin typeface="Arial"/>
              <a:ea typeface="Arial"/>
              <a:cs typeface="Arial"/>
              <a:sym typeface="Arial"/>
            </a:endParaRPr>
          </a:p>
        </p:txBody>
      </p:sp>
      <p:pic>
        <p:nvPicPr>
          <p:cNvPr id="107" name="Google Shape;107;g3ab8b2de681_0_106"/>
          <p:cNvPicPr preferRelativeResize="0"/>
          <p:nvPr/>
        </p:nvPicPr>
        <p:blipFill rotWithShape="1">
          <a:blip r:embed="rId3">
            <a:alphaModFix/>
          </a:blip>
          <a:srcRect b="18845" l="0" r="0" t="7310"/>
          <a:stretch/>
        </p:blipFill>
        <p:spPr>
          <a:xfrm>
            <a:off x="2955725" y="919550"/>
            <a:ext cx="3232550" cy="31827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g3ab8b2de681_0_86"/>
          <p:cNvSpPr txBox="1"/>
          <p:nvPr/>
        </p:nvSpPr>
        <p:spPr>
          <a:xfrm>
            <a:off x="3505725" y="92150"/>
            <a:ext cx="6129900" cy="569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b="1" lang="en-US" sz="2500">
                <a:solidFill>
                  <a:schemeClr val="dk1"/>
                </a:solidFill>
              </a:rPr>
              <a:t>+5</a:t>
            </a:r>
            <a:r>
              <a:rPr b="1" lang="en-US" sz="2500">
                <a:solidFill>
                  <a:schemeClr val="dk1"/>
                </a:solidFill>
              </a:rPr>
              <a:t>V Rail, Current Draw Test</a:t>
            </a:r>
            <a:endParaRPr b="1" i="0" sz="2500" u="none" cap="none" strike="noStrike">
              <a:solidFill>
                <a:schemeClr val="dk1"/>
              </a:solidFill>
              <a:latin typeface="Arial"/>
              <a:ea typeface="Arial"/>
              <a:cs typeface="Arial"/>
              <a:sym typeface="Arial"/>
            </a:endParaRPr>
          </a:p>
        </p:txBody>
      </p:sp>
      <p:pic>
        <p:nvPicPr>
          <p:cNvPr id="113" name="Google Shape;113;g3ab8b2de681_0_86"/>
          <p:cNvPicPr preferRelativeResize="0"/>
          <p:nvPr/>
        </p:nvPicPr>
        <p:blipFill>
          <a:blip r:embed="rId3">
            <a:alphaModFix/>
          </a:blip>
          <a:stretch>
            <a:fillRect/>
          </a:stretch>
        </p:blipFill>
        <p:spPr>
          <a:xfrm>
            <a:off x="152400" y="1387000"/>
            <a:ext cx="8839204" cy="236949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pic>
        <p:nvPicPr>
          <p:cNvPr id="118" name="Google Shape;118;g3ab8b2de681_0_57"/>
          <p:cNvPicPr preferRelativeResize="0"/>
          <p:nvPr/>
        </p:nvPicPr>
        <p:blipFill>
          <a:blip r:embed="rId3">
            <a:alphaModFix/>
          </a:blip>
          <a:stretch>
            <a:fillRect/>
          </a:stretch>
        </p:blipFill>
        <p:spPr>
          <a:xfrm>
            <a:off x="1192874" y="837300"/>
            <a:ext cx="6758249" cy="4364399"/>
          </a:xfrm>
          <a:prstGeom prst="rect">
            <a:avLst/>
          </a:prstGeom>
          <a:noFill/>
          <a:ln>
            <a:noFill/>
          </a:ln>
        </p:spPr>
      </p:pic>
      <p:sp>
        <p:nvSpPr>
          <p:cNvPr id="119" name="Google Shape;119;g3ab8b2de681_0_57"/>
          <p:cNvSpPr txBox="1"/>
          <p:nvPr/>
        </p:nvSpPr>
        <p:spPr>
          <a:xfrm>
            <a:off x="3537375" y="92150"/>
            <a:ext cx="6129900" cy="569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b="1" lang="en-US" sz="2500">
                <a:solidFill>
                  <a:schemeClr val="dk1"/>
                </a:solidFill>
              </a:rPr>
              <a:t>+3.3V Rail, 4A Current Draw Test</a:t>
            </a:r>
            <a:endParaRPr b="1" i="0" sz="2500" u="none" cap="none" strike="noStrik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g3ab8b2de681_0_63"/>
          <p:cNvPicPr preferRelativeResize="0"/>
          <p:nvPr/>
        </p:nvPicPr>
        <p:blipFill>
          <a:blip r:embed="rId3">
            <a:alphaModFix/>
          </a:blip>
          <a:stretch>
            <a:fillRect/>
          </a:stretch>
        </p:blipFill>
        <p:spPr>
          <a:xfrm>
            <a:off x="1791800" y="973200"/>
            <a:ext cx="5560400" cy="4170300"/>
          </a:xfrm>
          <a:prstGeom prst="rect">
            <a:avLst/>
          </a:prstGeom>
          <a:noFill/>
          <a:ln>
            <a:noFill/>
          </a:ln>
        </p:spPr>
      </p:pic>
      <p:sp>
        <p:nvSpPr>
          <p:cNvPr id="125" name="Google Shape;125;g3ab8b2de681_0_63"/>
          <p:cNvSpPr txBox="1"/>
          <p:nvPr/>
        </p:nvSpPr>
        <p:spPr>
          <a:xfrm>
            <a:off x="3553500" y="92150"/>
            <a:ext cx="6129900" cy="569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b="1" lang="en-US" sz="2500">
                <a:solidFill>
                  <a:schemeClr val="dk1"/>
                </a:solidFill>
              </a:rPr>
              <a:t>+10V Rail, Load Transient</a:t>
            </a:r>
            <a:endParaRPr b="1" i="0" sz="25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pic>
        <p:nvPicPr>
          <p:cNvPr id="130" name="Google Shape;130;g3ab8b2de681_0_68"/>
          <p:cNvPicPr preferRelativeResize="0"/>
          <p:nvPr/>
        </p:nvPicPr>
        <p:blipFill>
          <a:blip r:embed="rId3">
            <a:alphaModFix/>
          </a:blip>
          <a:stretch>
            <a:fillRect/>
          </a:stretch>
        </p:blipFill>
        <p:spPr>
          <a:xfrm>
            <a:off x="1014200" y="748325"/>
            <a:ext cx="7115601" cy="4534374"/>
          </a:xfrm>
          <a:prstGeom prst="rect">
            <a:avLst/>
          </a:prstGeom>
          <a:noFill/>
          <a:ln>
            <a:noFill/>
          </a:ln>
        </p:spPr>
      </p:pic>
      <p:sp>
        <p:nvSpPr>
          <p:cNvPr id="131" name="Google Shape;131;g3ab8b2de681_0_68"/>
          <p:cNvSpPr txBox="1"/>
          <p:nvPr/>
        </p:nvSpPr>
        <p:spPr>
          <a:xfrm>
            <a:off x="3505725" y="92150"/>
            <a:ext cx="6129900" cy="569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b="1" lang="en-US" sz="2500">
                <a:solidFill>
                  <a:schemeClr val="dk1"/>
                </a:solidFill>
              </a:rPr>
              <a:t>-10</a:t>
            </a:r>
            <a:r>
              <a:rPr b="1" lang="en-US" sz="2500">
                <a:solidFill>
                  <a:schemeClr val="dk1"/>
                </a:solidFill>
              </a:rPr>
              <a:t>V Rail, 0.6A Current Draw Test</a:t>
            </a:r>
            <a:endParaRPr b="1" i="0" sz="2500" u="none" cap="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g3ab8b2de681_0_0"/>
          <p:cNvSpPr txBox="1"/>
          <p:nvPr>
            <p:ph type="title"/>
          </p:nvPr>
        </p:nvSpPr>
        <p:spPr>
          <a:xfrm>
            <a:off x="457200" y="689718"/>
            <a:ext cx="8229600" cy="6027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Arial"/>
              <a:buNone/>
            </a:pPr>
            <a:r>
              <a:rPr lang="en-US"/>
              <a:t>Analog Output Filters Subsystem</a:t>
            </a:r>
            <a:endParaRPr/>
          </a:p>
          <a:p>
            <a:pPr indent="0" lvl="0" marL="0" rtl="0" algn="ctr">
              <a:lnSpc>
                <a:spcPct val="100000"/>
              </a:lnSpc>
              <a:spcBef>
                <a:spcPts val="0"/>
              </a:spcBef>
              <a:spcAft>
                <a:spcPts val="0"/>
              </a:spcAft>
              <a:buClr>
                <a:schemeClr val="dk1"/>
              </a:buClr>
              <a:buSzPct val="161797"/>
              <a:buFont typeface="Arial"/>
              <a:buNone/>
            </a:pPr>
            <a:r>
              <a:rPr lang="en-US" sz="1977"/>
              <a:t>Salina Teng</a:t>
            </a:r>
            <a:endParaRPr sz="1977"/>
          </a:p>
        </p:txBody>
      </p:sp>
      <p:grpSp>
        <p:nvGrpSpPr>
          <p:cNvPr id="137" name="Google Shape;137;g3ab8b2de681_0_0"/>
          <p:cNvGrpSpPr/>
          <p:nvPr/>
        </p:nvGrpSpPr>
        <p:grpSpPr>
          <a:xfrm>
            <a:off x="183922" y="1358100"/>
            <a:ext cx="4299392" cy="3705507"/>
            <a:chOff x="1118234" y="283728"/>
            <a:chExt cx="2143266" cy="4025100"/>
          </a:xfrm>
        </p:grpSpPr>
        <p:sp>
          <p:nvSpPr>
            <p:cNvPr id="138" name="Google Shape;138;g3ab8b2de681_0_0"/>
            <p:cNvSpPr/>
            <p:nvPr/>
          </p:nvSpPr>
          <p:spPr>
            <a:xfrm>
              <a:off x="1178647" y="283728"/>
              <a:ext cx="2030400" cy="4025100"/>
            </a:xfrm>
            <a:prstGeom prst="rect">
              <a:avLst/>
            </a:prstGeom>
            <a:solidFill>
              <a:srgbClr val="660000"/>
            </a:solidFill>
            <a:ln>
              <a:noFill/>
            </a:ln>
          </p:spPr>
          <p:txBody>
            <a:bodyPr anchorCtr="0" anchor="ctr" bIns="90675" lIns="90675" spcFirstLastPara="1" rIns="90675" wrap="square" tIns="906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g3ab8b2de681_0_0"/>
            <p:cNvSpPr/>
            <p:nvPr/>
          </p:nvSpPr>
          <p:spPr>
            <a:xfrm>
              <a:off x="1118234" y="341749"/>
              <a:ext cx="2048100" cy="1423500"/>
            </a:xfrm>
            <a:prstGeom prst="rect">
              <a:avLst/>
            </a:prstGeom>
            <a:solidFill>
              <a:srgbClr val="FFFFFF"/>
            </a:solidFill>
            <a:ln cap="flat" cmpd="sng" w="18900">
              <a:solidFill>
                <a:schemeClr val="dk1"/>
              </a:solidFill>
              <a:prstDash val="solid"/>
              <a:round/>
              <a:headEnd len="sm" w="sm" type="none"/>
              <a:tailEnd len="sm" w="sm" type="none"/>
            </a:ln>
          </p:spPr>
          <p:txBody>
            <a:bodyPr anchorCtr="0" anchor="ctr" bIns="90675" lIns="90675" spcFirstLastPara="1" rIns="90675" wrap="square" tIns="906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g3ab8b2de681_0_0"/>
            <p:cNvSpPr/>
            <p:nvPr/>
          </p:nvSpPr>
          <p:spPr>
            <a:xfrm>
              <a:off x="1225999" y="1167844"/>
              <a:ext cx="1815000" cy="608100"/>
            </a:xfrm>
            <a:prstGeom prst="rect">
              <a:avLst/>
            </a:prstGeom>
            <a:noFill/>
            <a:ln>
              <a:noFill/>
            </a:ln>
          </p:spPr>
          <p:txBody>
            <a:bodyPr anchorCtr="0" anchor="t" bIns="90675" lIns="90675" spcFirstLastPara="1" rIns="90675" wrap="square" tIns="90675">
              <a:noAutofit/>
            </a:bodyPr>
            <a:lstStyle/>
            <a:p>
              <a:pPr indent="0" lvl="0" marL="0" rtl="0" algn="l">
                <a:spcBef>
                  <a:spcPts val="0"/>
                </a:spcBef>
                <a:spcAft>
                  <a:spcPts val="0"/>
                </a:spcAft>
                <a:buClr>
                  <a:schemeClr val="dk1"/>
                </a:buClr>
                <a:buSzPts val="1100"/>
                <a:buFont typeface="Arial"/>
                <a:buNone/>
              </a:pPr>
              <a:r>
                <a:rPr i="1" lang="en-US" sz="1200">
                  <a:solidFill>
                    <a:schemeClr val="dk1"/>
                  </a:solidFill>
                  <a:latin typeface="Roboto Medium"/>
                  <a:ea typeface="Roboto Medium"/>
                  <a:cs typeface="Roboto Medium"/>
                  <a:sym typeface="Roboto Medium"/>
                </a:rPr>
                <a:t>Create a clean ±5V, 100 kHz analog output path for the AWG</a:t>
              </a:r>
              <a:endParaRPr b="0" i="1" sz="1391" u="none" cap="none" strike="noStrike">
                <a:solidFill>
                  <a:schemeClr val="dk1"/>
                </a:solidFill>
                <a:latin typeface="Roboto Medium"/>
                <a:ea typeface="Roboto Medium"/>
                <a:cs typeface="Roboto Medium"/>
                <a:sym typeface="Roboto Medium"/>
              </a:endParaRPr>
            </a:p>
          </p:txBody>
        </p:sp>
        <p:sp>
          <p:nvSpPr>
            <p:cNvPr id="141" name="Google Shape;141;g3ab8b2de681_0_0"/>
            <p:cNvSpPr/>
            <p:nvPr/>
          </p:nvSpPr>
          <p:spPr>
            <a:xfrm>
              <a:off x="1218214" y="424055"/>
              <a:ext cx="1815000" cy="675000"/>
            </a:xfrm>
            <a:prstGeom prst="rect">
              <a:avLst/>
            </a:prstGeom>
            <a:noFill/>
            <a:ln>
              <a:noFill/>
            </a:ln>
          </p:spPr>
          <p:txBody>
            <a:bodyPr anchorCtr="0" anchor="t" bIns="90675" lIns="90675" spcFirstLastPara="1" rIns="90675" wrap="square" tIns="90675">
              <a:noAutofit/>
            </a:bodyPr>
            <a:lstStyle/>
            <a:p>
              <a:pPr indent="0" lvl="0" marL="0" marR="0" rtl="0" algn="l">
                <a:lnSpc>
                  <a:spcPct val="100000"/>
                </a:lnSpc>
                <a:spcBef>
                  <a:spcPts val="0"/>
                </a:spcBef>
                <a:spcAft>
                  <a:spcPts val="0"/>
                </a:spcAft>
                <a:buClr>
                  <a:srgbClr val="000000"/>
                </a:buClr>
                <a:buSzPts val="3966"/>
                <a:buFont typeface="Arial"/>
                <a:buNone/>
              </a:pPr>
              <a:r>
                <a:rPr b="1" i="0" lang="en-US" sz="3966" u="none" cap="none" strike="noStrike">
                  <a:solidFill>
                    <a:srgbClr val="990000"/>
                  </a:solidFill>
                  <a:latin typeface="Roboto"/>
                  <a:ea typeface="Roboto"/>
                  <a:cs typeface="Roboto"/>
                  <a:sym typeface="Roboto"/>
                </a:rPr>
                <a:t>Design</a:t>
              </a:r>
              <a:endParaRPr b="0" i="0" sz="3966" u="none" cap="none" strike="noStrike">
                <a:solidFill>
                  <a:srgbClr val="990000"/>
                </a:solidFill>
                <a:latin typeface="Roboto Thin"/>
                <a:ea typeface="Roboto Thin"/>
                <a:cs typeface="Roboto Thin"/>
                <a:sym typeface="Roboto Thin"/>
              </a:endParaRPr>
            </a:p>
          </p:txBody>
        </p:sp>
        <p:sp>
          <p:nvSpPr>
            <p:cNvPr id="142" name="Google Shape;142;g3ab8b2de681_0_0"/>
            <p:cNvSpPr/>
            <p:nvPr/>
          </p:nvSpPr>
          <p:spPr>
            <a:xfrm rot="5400000">
              <a:off x="1947731" y="1820733"/>
              <a:ext cx="389100" cy="278100"/>
            </a:xfrm>
            <a:prstGeom prst="rightArrow">
              <a:avLst>
                <a:gd fmla="val 34239" name="adj1"/>
                <a:gd fmla="val 57035" name="adj2"/>
              </a:avLst>
            </a:prstGeom>
            <a:solidFill>
              <a:srgbClr val="FFFFFF"/>
            </a:solidFill>
            <a:ln>
              <a:noFill/>
            </a:ln>
          </p:spPr>
          <p:txBody>
            <a:bodyPr anchorCtr="0" anchor="ctr" bIns="90675" lIns="90675" spcFirstLastPara="1" rIns="90675" wrap="square" tIns="906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g3ab8b2de681_0_0"/>
            <p:cNvSpPr/>
            <p:nvPr/>
          </p:nvSpPr>
          <p:spPr>
            <a:xfrm>
              <a:off x="1118300" y="2061647"/>
              <a:ext cx="2143200" cy="2196300"/>
            </a:xfrm>
            <a:prstGeom prst="rect">
              <a:avLst/>
            </a:prstGeom>
            <a:noFill/>
            <a:ln>
              <a:noFill/>
            </a:ln>
          </p:spPr>
          <p:txBody>
            <a:bodyPr anchorCtr="0" anchor="t" bIns="90675" lIns="90675" spcFirstLastPara="1" rIns="90675" wrap="square" tIns="90675">
              <a:noAutofit/>
            </a:bodyPr>
            <a:lstStyle/>
            <a:p>
              <a:pPr indent="-304800" lvl="0" marL="457200" rtl="0" algn="l">
                <a:lnSpc>
                  <a:spcPct val="115000"/>
                </a:lnSpc>
                <a:spcBef>
                  <a:spcPts val="0"/>
                </a:spcBef>
                <a:spcAft>
                  <a:spcPts val="0"/>
                </a:spcAft>
                <a:buClr>
                  <a:schemeClr val="lt1"/>
                </a:buClr>
                <a:buSzPts val="1200"/>
                <a:buFont typeface="Roboto"/>
                <a:buChar char="●"/>
              </a:pPr>
              <a:r>
                <a:rPr lang="en-US" sz="1200">
                  <a:solidFill>
                    <a:schemeClr val="lt1"/>
                  </a:solidFill>
                  <a:latin typeface="Roboto"/>
                  <a:ea typeface="Roboto"/>
                  <a:cs typeface="Roboto"/>
                  <a:sym typeface="Roboto"/>
                </a:rPr>
                <a:t>Defined </a:t>
              </a:r>
              <a:r>
                <a:rPr b="1" lang="en-US" sz="1200">
                  <a:solidFill>
                    <a:schemeClr val="lt1"/>
                  </a:solidFill>
                  <a:latin typeface="Roboto"/>
                  <a:ea typeface="Roboto"/>
                  <a:cs typeface="Roboto"/>
                  <a:sym typeface="Roboto"/>
                </a:rPr>
                <a:t>DAC → I/V Converter → Low-pass → </a:t>
              </a:r>
              <a:endParaRPr b="1" sz="1200">
                <a:solidFill>
                  <a:schemeClr val="lt1"/>
                </a:solidFill>
                <a:latin typeface="Roboto"/>
                <a:ea typeface="Roboto"/>
                <a:cs typeface="Roboto"/>
                <a:sym typeface="Roboto"/>
              </a:endParaRPr>
            </a:p>
            <a:p>
              <a:pPr indent="0" lvl="0" marL="457200" rtl="0" algn="l">
                <a:lnSpc>
                  <a:spcPct val="115000"/>
                </a:lnSpc>
                <a:spcBef>
                  <a:spcPts val="0"/>
                </a:spcBef>
                <a:spcAft>
                  <a:spcPts val="0"/>
                </a:spcAft>
                <a:buNone/>
              </a:pPr>
              <a:r>
                <a:rPr b="1" lang="en-US" sz="1200">
                  <a:solidFill>
                    <a:schemeClr val="lt1"/>
                  </a:solidFill>
                  <a:latin typeface="Roboto"/>
                  <a:ea typeface="Roboto"/>
                  <a:cs typeface="Roboto"/>
                  <a:sym typeface="Roboto"/>
                </a:rPr>
                <a:t>Unity Gain Buffer</a:t>
              </a:r>
              <a:r>
                <a:rPr lang="en-US" sz="1200">
                  <a:solidFill>
                    <a:schemeClr val="lt1"/>
                  </a:solidFill>
                  <a:latin typeface="Roboto"/>
                  <a:ea typeface="Roboto"/>
                  <a:cs typeface="Roboto"/>
                  <a:sym typeface="Roboto"/>
                </a:rPr>
                <a:t> design on schematic/PCB</a:t>
              </a:r>
              <a:endParaRPr sz="1200">
                <a:solidFill>
                  <a:schemeClr val="lt1"/>
                </a:solidFill>
                <a:latin typeface="Roboto"/>
                <a:ea typeface="Roboto"/>
                <a:cs typeface="Roboto"/>
                <a:sym typeface="Roboto"/>
              </a:endParaRPr>
            </a:p>
            <a:p>
              <a:pPr indent="0" lvl="0" marL="457200" rtl="0" algn="l">
                <a:lnSpc>
                  <a:spcPct val="115000"/>
                </a:lnSpc>
                <a:spcBef>
                  <a:spcPts val="0"/>
                </a:spcBef>
                <a:spcAft>
                  <a:spcPts val="0"/>
                </a:spcAft>
                <a:buNone/>
              </a:pPr>
              <a:r>
                <a:t/>
              </a:r>
              <a:endParaRPr sz="1200">
                <a:solidFill>
                  <a:schemeClr val="lt1"/>
                </a:solidFill>
                <a:latin typeface="Roboto"/>
                <a:ea typeface="Roboto"/>
                <a:cs typeface="Roboto"/>
                <a:sym typeface="Roboto"/>
              </a:endParaRPr>
            </a:p>
            <a:p>
              <a:pPr indent="-304800" lvl="0" marL="457200" rtl="0" algn="l">
                <a:lnSpc>
                  <a:spcPct val="115000"/>
                </a:lnSpc>
                <a:spcBef>
                  <a:spcPts val="0"/>
                </a:spcBef>
                <a:spcAft>
                  <a:spcPts val="0"/>
                </a:spcAft>
                <a:buClr>
                  <a:schemeClr val="lt1"/>
                </a:buClr>
                <a:buSzPts val="1200"/>
                <a:buFont typeface="Roboto"/>
                <a:buChar char="●"/>
              </a:pPr>
              <a:r>
                <a:rPr lang="en-US" sz="1200">
                  <a:solidFill>
                    <a:schemeClr val="lt1"/>
                  </a:solidFill>
                  <a:latin typeface="Roboto"/>
                  <a:ea typeface="Roboto"/>
                  <a:cs typeface="Roboto"/>
                  <a:sym typeface="Roboto"/>
                </a:rPr>
                <a:t>Ensured </a:t>
              </a:r>
              <a:r>
                <a:rPr b="1" lang="en-US" sz="1200">
                  <a:solidFill>
                    <a:schemeClr val="lt1"/>
                  </a:solidFill>
                  <a:latin typeface="Roboto"/>
                  <a:ea typeface="Roboto"/>
                  <a:cs typeface="Roboto"/>
                  <a:sym typeface="Roboto"/>
                </a:rPr>
                <a:t>±10V rails</a:t>
              </a:r>
              <a:r>
                <a:rPr lang="en-US" sz="1200">
                  <a:solidFill>
                    <a:schemeClr val="lt1"/>
                  </a:solidFill>
                  <a:latin typeface="Roboto"/>
                  <a:ea typeface="Roboto"/>
                  <a:cs typeface="Roboto"/>
                  <a:sym typeface="Roboto"/>
                </a:rPr>
                <a:t> support </a:t>
              </a:r>
              <a:r>
                <a:rPr b="1" lang="en-US" sz="1200">
                  <a:solidFill>
                    <a:schemeClr val="lt1"/>
                  </a:solidFill>
                  <a:latin typeface="Roboto"/>
                  <a:ea typeface="Roboto"/>
                  <a:cs typeface="Roboto"/>
                  <a:sym typeface="Roboto"/>
                </a:rPr>
                <a:t>±5V swing</a:t>
              </a:r>
              <a:r>
                <a:rPr lang="en-US" sz="1200">
                  <a:solidFill>
                    <a:schemeClr val="lt1"/>
                  </a:solidFill>
                  <a:latin typeface="Roboto"/>
                  <a:ea typeface="Roboto"/>
                  <a:cs typeface="Roboto"/>
                  <a:sym typeface="Roboto"/>
                </a:rPr>
                <a:t> into </a:t>
              </a:r>
              <a:r>
                <a:rPr b="1" lang="en-US" sz="1200">
                  <a:solidFill>
                    <a:schemeClr val="lt1"/>
                  </a:solidFill>
                  <a:latin typeface="Roboto"/>
                  <a:ea typeface="Roboto"/>
                  <a:cs typeface="Roboto"/>
                  <a:sym typeface="Roboto"/>
                </a:rPr>
                <a:t>50 Ω</a:t>
              </a:r>
              <a:r>
                <a:rPr lang="en-US" sz="1200">
                  <a:solidFill>
                    <a:schemeClr val="lt1"/>
                  </a:solidFill>
                  <a:latin typeface="Roboto"/>
                  <a:ea typeface="Roboto"/>
                  <a:cs typeface="Roboto"/>
                  <a:sym typeface="Roboto"/>
                </a:rPr>
                <a:t> at </a:t>
              </a:r>
              <a:r>
                <a:rPr b="1" lang="en-US" sz="1200">
                  <a:solidFill>
                    <a:schemeClr val="lt1"/>
                  </a:solidFill>
                  <a:latin typeface="Roboto"/>
                  <a:ea typeface="Roboto"/>
                  <a:cs typeface="Roboto"/>
                  <a:sym typeface="Roboto"/>
                </a:rPr>
                <a:t>100 kHz</a:t>
              </a:r>
              <a:endParaRPr b="1" sz="1200">
                <a:solidFill>
                  <a:schemeClr val="lt1"/>
                </a:solidFill>
                <a:latin typeface="Roboto"/>
                <a:ea typeface="Roboto"/>
                <a:cs typeface="Roboto"/>
                <a:sym typeface="Roboto"/>
              </a:endParaRPr>
            </a:p>
            <a:p>
              <a:pPr indent="0" lvl="0" marL="457200" rtl="0" algn="l">
                <a:lnSpc>
                  <a:spcPct val="115000"/>
                </a:lnSpc>
                <a:spcBef>
                  <a:spcPts val="0"/>
                </a:spcBef>
                <a:spcAft>
                  <a:spcPts val="0"/>
                </a:spcAft>
                <a:buNone/>
              </a:pPr>
              <a:r>
                <a:t/>
              </a:r>
              <a:endParaRPr sz="1200">
                <a:solidFill>
                  <a:schemeClr val="lt1"/>
                </a:solidFill>
                <a:latin typeface="Roboto"/>
                <a:ea typeface="Roboto"/>
                <a:cs typeface="Roboto"/>
                <a:sym typeface="Roboto"/>
              </a:endParaRPr>
            </a:p>
            <a:p>
              <a:pPr indent="-304800" lvl="0" marL="457200" rtl="0" algn="l">
                <a:lnSpc>
                  <a:spcPct val="115000"/>
                </a:lnSpc>
                <a:spcBef>
                  <a:spcPts val="0"/>
                </a:spcBef>
                <a:spcAft>
                  <a:spcPts val="0"/>
                </a:spcAft>
                <a:buClr>
                  <a:schemeClr val="lt1"/>
                </a:buClr>
                <a:buSzPts val="1200"/>
                <a:buFont typeface="Roboto"/>
                <a:buChar char="●"/>
              </a:pPr>
              <a:r>
                <a:rPr lang="en-US" sz="1200">
                  <a:solidFill>
                    <a:schemeClr val="lt1"/>
                  </a:solidFill>
                  <a:latin typeface="Roboto"/>
                  <a:ea typeface="Roboto"/>
                  <a:cs typeface="Roboto"/>
                  <a:sym typeface="Roboto"/>
                </a:rPr>
                <a:t>Selected proper op-amps and passive component values to meet design specifications</a:t>
              </a:r>
              <a:endParaRPr sz="1491">
                <a:solidFill>
                  <a:srgbClr val="FFFFFF"/>
                </a:solidFill>
                <a:latin typeface="Roboto"/>
                <a:ea typeface="Roboto"/>
                <a:cs typeface="Roboto"/>
                <a:sym typeface="Roboto"/>
              </a:endParaRPr>
            </a:p>
          </p:txBody>
        </p:sp>
      </p:grpSp>
      <p:grpSp>
        <p:nvGrpSpPr>
          <p:cNvPr id="144" name="Google Shape;144;g3ab8b2de681_0_0"/>
          <p:cNvGrpSpPr/>
          <p:nvPr/>
        </p:nvGrpSpPr>
        <p:grpSpPr>
          <a:xfrm>
            <a:off x="4571999" y="1358125"/>
            <a:ext cx="4299345" cy="3705448"/>
            <a:chOff x="1118234" y="283725"/>
            <a:chExt cx="2090816" cy="4076400"/>
          </a:xfrm>
        </p:grpSpPr>
        <p:sp>
          <p:nvSpPr>
            <p:cNvPr id="145" name="Google Shape;145;g3ab8b2de681_0_0"/>
            <p:cNvSpPr/>
            <p:nvPr/>
          </p:nvSpPr>
          <p:spPr>
            <a:xfrm>
              <a:off x="1178650" y="283725"/>
              <a:ext cx="2030400" cy="4076400"/>
            </a:xfrm>
            <a:prstGeom prst="rect">
              <a:avLst/>
            </a:prstGeom>
            <a:solidFill>
              <a:srgbClr val="660000"/>
            </a:solidFill>
            <a:ln>
              <a:noFill/>
            </a:ln>
          </p:spPr>
          <p:txBody>
            <a:bodyPr anchorCtr="0" anchor="ctr" bIns="90675" lIns="90675" spcFirstLastPara="1" rIns="90675" wrap="square" tIns="906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g3ab8b2de681_0_0"/>
            <p:cNvSpPr/>
            <p:nvPr/>
          </p:nvSpPr>
          <p:spPr>
            <a:xfrm>
              <a:off x="1118234" y="341749"/>
              <a:ext cx="2048100" cy="1423500"/>
            </a:xfrm>
            <a:prstGeom prst="rect">
              <a:avLst/>
            </a:prstGeom>
            <a:solidFill>
              <a:srgbClr val="FFFFFF"/>
            </a:solidFill>
            <a:ln cap="flat" cmpd="sng" w="18900">
              <a:solidFill>
                <a:schemeClr val="dk1"/>
              </a:solidFill>
              <a:prstDash val="solid"/>
              <a:round/>
              <a:headEnd len="sm" w="sm" type="none"/>
              <a:tailEnd len="sm" w="sm" type="none"/>
            </a:ln>
          </p:spPr>
          <p:txBody>
            <a:bodyPr anchorCtr="0" anchor="ctr" bIns="90675" lIns="90675" spcFirstLastPara="1" rIns="90675" wrap="square" tIns="906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g3ab8b2de681_0_0"/>
            <p:cNvSpPr/>
            <p:nvPr/>
          </p:nvSpPr>
          <p:spPr>
            <a:xfrm>
              <a:off x="1256140" y="1076958"/>
              <a:ext cx="1815000" cy="608100"/>
            </a:xfrm>
            <a:prstGeom prst="rect">
              <a:avLst/>
            </a:prstGeom>
            <a:noFill/>
            <a:ln>
              <a:noFill/>
            </a:ln>
          </p:spPr>
          <p:txBody>
            <a:bodyPr anchorCtr="0" anchor="t" bIns="90675" lIns="90675" spcFirstLastPara="1" rIns="90675" wrap="square" tIns="90675">
              <a:noAutofit/>
            </a:bodyPr>
            <a:lstStyle/>
            <a:p>
              <a:pPr indent="0" lvl="0" marL="0" rtl="0" algn="l">
                <a:spcBef>
                  <a:spcPts val="0"/>
                </a:spcBef>
                <a:spcAft>
                  <a:spcPts val="0"/>
                </a:spcAft>
                <a:buClr>
                  <a:schemeClr val="dk1"/>
                </a:buClr>
                <a:buSzPts val="1100"/>
                <a:buFont typeface="Arial"/>
                <a:buNone/>
              </a:pPr>
              <a:r>
                <a:rPr i="1" lang="en-US" sz="1200">
                  <a:solidFill>
                    <a:schemeClr val="dk1"/>
                  </a:solidFill>
                  <a:latin typeface="Roboto Medium"/>
                  <a:ea typeface="Roboto Medium"/>
                  <a:cs typeface="Roboto Medium"/>
                  <a:sym typeface="Roboto Medium"/>
                </a:rPr>
                <a:t>Verify analog signal integrity and stage-to-stage performance</a:t>
              </a:r>
              <a:endParaRPr i="1" sz="1200">
                <a:solidFill>
                  <a:schemeClr val="dk1"/>
                </a:solidFill>
                <a:latin typeface="Roboto Medium"/>
                <a:ea typeface="Roboto Medium"/>
                <a:cs typeface="Roboto Medium"/>
                <a:sym typeface="Roboto Medium"/>
              </a:endParaRPr>
            </a:p>
            <a:p>
              <a:pPr indent="0" lvl="0" marL="0" marR="0" rtl="0" algn="l">
                <a:lnSpc>
                  <a:spcPct val="100000"/>
                </a:lnSpc>
                <a:spcBef>
                  <a:spcPts val="0"/>
                </a:spcBef>
                <a:spcAft>
                  <a:spcPts val="0"/>
                </a:spcAft>
                <a:buClr>
                  <a:srgbClr val="000000"/>
                </a:buClr>
                <a:buSzPts val="1091"/>
                <a:buFont typeface="Arial"/>
                <a:buNone/>
              </a:pPr>
              <a:r>
                <a:t/>
              </a:r>
              <a:endParaRPr i="1" sz="1291">
                <a:solidFill>
                  <a:schemeClr val="dk1"/>
                </a:solidFill>
                <a:latin typeface="Roboto Medium"/>
                <a:ea typeface="Roboto Medium"/>
                <a:cs typeface="Roboto Medium"/>
                <a:sym typeface="Roboto Medium"/>
              </a:endParaRPr>
            </a:p>
          </p:txBody>
        </p:sp>
        <p:sp>
          <p:nvSpPr>
            <p:cNvPr id="148" name="Google Shape;148;g3ab8b2de681_0_0"/>
            <p:cNvSpPr/>
            <p:nvPr/>
          </p:nvSpPr>
          <p:spPr>
            <a:xfrm>
              <a:off x="1247476" y="429073"/>
              <a:ext cx="1197600" cy="675000"/>
            </a:xfrm>
            <a:prstGeom prst="rect">
              <a:avLst/>
            </a:prstGeom>
            <a:noFill/>
            <a:ln>
              <a:noFill/>
            </a:ln>
          </p:spPr>
          <p:txBody>
            <a:bodyPr anchorCtr="0" anchor="t" bIns="90675" lIns="90675" spcFirstLastPara="1" rIns="90675" wrap="square" tIns="90675">
              <a:noAutofit/>
            </a:bodyPr>
            <a:lstStyle/>
            <a:p>
              <a:pPr indent="0" lvl="0" marL="0" marR="0" rtl="0" algn="l">
                <a:lnSpc>
                  <a:spcPct val="100000"/>
                </a:lnSpc>
                <a:spcBef>
                  <a:spcPts val="0"/>
                </a:spcBef>
                <a:spcAft>
                  <a:spcPts val="0"/>
                </a:spcAft>
                <a:buClr>
                  <a:srgbClr val="000000"/>
                </a:buClr>
                <a:buSzPts val="3966"/>
                <a:buFont typeface="Arial"/>
                <a:buNone/>
              </a:pPr>
              <a:r>
                <a:rPr b="1" i="0" lang="en-US" sz="3966" u="none" cap="none" strike="noStrike">
                  <a:solidFill>
                    <a:srgbClr val="990000"/>
                  </a:solidFill>
                  <a:latin typeface="Roboto"/>
                  <a:ea typeface="Roboto"/>
                  <a:cs typeface="Roboto"/>
                  <a:sym typeface="Roboto"/>
                </a:rPr>
                <a:t>Test</a:t>
              </a:r>
              <a:endParaRPr b="0" i="0" sz="3966" u="none" cap="none" strike="noStrike">
                <a:solidFill>
                  <a:srgbClr val="990000"/>
                </a:solidFill>
                <a:latin typeface="Roboto Thin"/>
                <a:ea typeface="Roboto Thin"/>
                <a:cs typeface="Roboto Thin"/>
                <a:sym typeface="Roboto Thin"/>
              </a:endParaRPr>
            </a:p>
          </p:txBody>
        </p:sp>
        <p:sp>
          <p:nvSpPr>
            <p:cNvPr id="149" name="Google Shape;149;g3ab8b2de681_0_0"/>
            <p:cNvSpPr/>
            <p:nvPr/>
          </p:nvSpPr>
          <p:spPr>
            <a:xfrm rot="5400000">
              <a:off x="1947731" y="1820733"/>
              <a:ext cx="389100" cy="278100"/>
            </a:xfrm>
            <a:prstGeom prst="rightArrow">
              <a:avLst>
                <a:gd fmla="val 34239" name="adj1"/>
                <a:gd fmla="val 57035" name="adj2"/>
              </a:avLst>
            </a:prstGeom>
            <a:solidFill>
              <a:srgbClr val="FFFFFF"/>
            </a:solidFill>
            <a:ln>
              <a:noFill/>
            </a:ln>
          </p:spPr>
          <p:txBody>
            <a:bodyPr anchorCtr="0" anchor="ctr" bIns="90675" lIns="90675" spcFirstLastPara="1" rIns="90675" wrap="square" tIns="906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g3ab8b2de681_0_0"/>
            <p:cNvSpPr/>
            <p:nvPr/>
          </p:nvSpPr>
          <p:spPr>
            <a:xfrm>
              <a:off x="1118295" y="2036228"/>
              <a:ext cx="2090700" cy="2221800"/>
            </a:xfrm>
            <a:prstGeom prst="rect">
              <a:avLst/>
            </a:prstGeom>
            <a:noFill/>
            <a:ln>
              <a:noFill/>
            </a:ln>
          </p:spPr>
          <p:txBody>
            <a:bodyPr anchorCtr="0" anchor="t" bIns="90675" lIns="90675" spcFirstLastPara="1" rIns="90675" wrap="square" tIns="90675">
              <a:noAutofit/>
            </a:bodyPr>
            <a:lstStyle/>
            <a:p>
              <a:pPr indent="-298450" lvl="0" marL="457200" rtl="0" algn="l">
                <a:lnSpc>
                  <a:spcPct val="115000"/>
                </a:lnSpc>
                <a:spcBef>
                  <a:spcPts val="0"/>
                </a:spcBef>
                <a:spcAft>
                  <a:spcPts val="0"/>
                </a:spcAft>
                <a:buClr>
                  <a:schemeClr val="lt1"/>
                </a:buClr>
                <a:buSzPts val="1100"/>
                <a:buFont typeface="Roboto"/>
                <a:buChar char="●"/>
              </a:pPr>
              <a:r>
                <a:rPr lang="en-US" sz="1100">
                  <a:solidFill>
                    <a:schemeClr val="lt1"/>
                  </a:solidFill>
                  <a:latin typeface="Roboto"/>
                  <a:ea typeface="Roboto"/>
                  <a:cs typeface="Roboto"/>
                  <a:sym typeface="Roboto"/>
                </a:rPr>
                <a:t>Measured DAC → I/V Converter voltage value accuracy</a:t>
              </a:r>
              <a:endParaRPr sz="1100">
                <a:solidFill>
                  <a:schemeClr val="lt1"/>
                </a:solidFill>
                <a:latin typeface="Roboto"/>
                <a:ea typeface="Roboto"/>
                <a:cs typeface="Roboto"/>
                <a:sym typeface="Roboto"/>
              </a:endParaRPr>
            </a:p>
            <a:p>
              <a:pPr indent="0" lvl="0" marL="457200" rtl="0" algn="l">
                <a:lnSpc>
                  <a:spcPct val="115000"/>
                </a:lnSpc>
                <a:spcBef>
                  <a:spcPts val="0"/>
                </a:spcBef>
                <a:spcAft>
                  <a:spcPts val="0"/>
                </a:spcAft>
                <a:buNone/>
              </a:pPr>
              <a:r>
                <a:t/>
              </a:r>
              <a:endParaRPr sz="1100">
                <a:solidFill>
                  <a:schemeClr val="lt1"/>
                </a:solidFill>
                <a:latin typeface="Roboto"/>
                <a:ea typeface="Roboto"/>
                <a:cs typeface="Roboto"/>
                <a:sym typeface="Roboto"/>
              </a:endParaRPr>
            </a:p>
            <a:p>
              <a:pPr indent="-298450" lvl="0" marL="457200" rtl="0" algn="l">
                <a:lnSpc>
                  <a:spcPct val="115000"/>
                </a:lnSpc>
                <a:spcBef>
                  <a:spcPts val="0"/>
                </a:spcBef>
                <a:spcAft>
                  <a:spcPts val="0"/>
                </a:spcAft>
                <a:buClr>
                  <a:schemeClr val="lt1"/>
                </a:buClr>
                <a:buSzPts val="1100"/>
                <a:buFont typeface="Roboto"/>
                <a:buChar char="●"/>
              </a:pPr>
              <a:r>
                <a:rPr lang="en-US" sz="1100">
                  <a:solidFill>
                    <a:schemeClr val="lt1"/>
                  </a:solidFill>
                  <a:latin typeface="Roboto"/>
                  <a:ea typeface="Roboto"/>
                  <a:cs typeface="Roboto"/>
                  <a:sym typeface="Roboto"/>
                </a:rPr>
                <a:t>Confirmed low-pass cutoff (150 kHz) and attenuation</a:t>
              </a:r>
              <a:endParaRPr sz="1100">
                <a:solidFill>
                  <a:schemeClr val="lt1"/>
                </a:solidFill>
                <a:latin typeface="Roboto"/>
                <a:ea typeface="Roboto"/>
                <a:cs typeface="Roboto"/>
                <a:sym typeface="Roboto"/>
              </a:endParaRPr>
            </a:p>
            <a:p>
              <a:pPr indent="0" lvl="0" marL="457200" rtl="0" algn="l">
                <a:lnSpc>
                  <a:spcPct val="115000"/>
                </a:lnSpc>
                <a:spcBef>
                  <a:spcPts val="0"/>
                </a:spcBef>
                <a:spcAft>
                  <a:spcPts val="0"/>
                </a:spcAft>
                <a:buNone/>
              </a:pPr>
              <a:r>
                <a:t/>
              </a:r>
              <a:endParaRPr sz="1100">
                <a:solidFill>
                  <a:schemeClr val="lt1"/>
                </a:solidFill>
                <a:latin typeface="Roboto"/>
                <a:ea typeface="Roboto"/>
                <a:cs typeface="Roboto"/>
                <a:sym typeface="Roboto"/>
              </a:endParaRPr>
            </a:p>
            <a:p>
              <a:pPr indent="-298450" lvl="0" marL="457200" rtl="0" algn="l">
                <a:lnSpc>
                  <a:spcPct val="115000"/>
                </a:lnSpc>
                <a:spcBef>
                  <a:spcPts val="0"/>
                </a:spcBef>
                <a:spcAft>
                  <a:spcPts val="0"/>
                </a:spcAft>
                <a:buClr>
                  <a:schemeClr val="lt1"/>
                </a:buClr>
                <a:buSzPts val="1100"/>
                <a:buFont typeface="Roboto"/>
                <a:buChar char="●"/>
              </a:pPr>
              <a:r>
                <a:rPr lang="en-US" sz="1100">
                  <a:solidFill>
                    <a:schemeClr val="lt1"/>
                  </a:solidFill>
                  <a:latin typeface="Roboto"/>
                  <a:ea typeface="Roboto"/>
                  <a:cs typeface="Roboto"/>
                  <a:sym typeface="Roboto"/>
                </a:rPr>
                <a:t>Tested unity gain buffer output swing and load drive (50 Ω)</a:t>
              </a:r>
              <a:endParaRPr sz="1100">
                <a:solidFill>
                  <a:schemeClr val="lt1"/>
                </a:solidFill>
                <a:latin typeface="Roboto"/>
                <a:ea typeface="Roboto"/>
                <a:cs typeface="Roboto"/>
                <a:sym typeface="Roboto"/>
              </a:endParaRPr>
            </a:p>
            <a:p>
              <a:pPr indent="0" lvl="0" marL="457200" rtl="0" algn="l">
                <a:lnSpc>
                  <a:spcPct val="115000"/>
                </a:lnSpc>
                <a:spcBef>
                  <a:spcPts val="0"/>
                </a:spcBef>
                <a:spcAft>
                  <a:spcPts val="0"/>
                </a:spcAft>
                <a:buNone/>
              </a:pPr>
              <a:r>
                <a:t/>
              </a:r>
              <a:endParaRPr sz="1100">
                <a:solidFill>
                  <a:schemeClr val="lt1"/>
                </a:solidFill>
                <a:latin typeface="Roboto"/>
                <a:ea typeface="Roboto"/>
                <a:cs typeface="Roboto"/>
                <a:sym typeface="Roboto"/>
              </a:endParaRPr>
            </a:p>
            <a:p>
              <a:pPr indent="-298450" lvl="0" marL="457200" rtl="0" algn="l">
                <a:lnSpc>
                  <a:spcPct val="115000"/>
                </a:lnSpc>
                <a:spcBef>
                  <a:spcPts val="0"/>
                </a:spcBef>
                <a:spcAft>
                  <a:spcPts val="0"/>
                </a:spcAft>
                <a:buClr>
                  <a:schemeClr val="lt1"/>
                </a:buClr>
                <a:buSzPts val="1100"/>
                <a:buFont typeface="Roboto"/>
                <a:buChar char="●"/>
              </a:pPr>
              <a:r>
                <a:rPr lang="en-US" sz="1100">
                  <a:solidFill>
                    <a:schemeClr val="lt1"/>
                  </a:solidFill>
                  <a:latin typeface="Roboto"/>
                  <a:ea typeface="Roboto"/>
                  <a:cs typeface="Roboto"/>
                  <a:sym typeface="Roboto"/>
                </a:rPr>
                <a:t>Verified full-chain output: ±5V, 50 Ω</a:t>
              </a:r>
              <a:endParaRPr b="1" sz="1100">
                <a:solidFill>
                  <a:schemeClr val="lt1"/>
                </a:solidFill>
                <a:latin typeface="Roboto"/>
                <a:ea typeface="Roboto"/>
                <a:cs typeface="Roboto"/>
                <a:sym typeface="Roboto"/>
              </a:endParaRPr>
            </a:p>
            <a:p>
              <a:pPr indent="0" lvl="0" marL="457200" rtl="0" algn="l">
                <a:lnSpc>
                  <a:spcPct val="115000"/>
                </a:lnSpc>
                <a:spcBef>
                  <a:spcPts val="0"/>
                </a:spcBef>
                <a:spcAft>
                  <a:spcPts val="0"/>
                </a:spcAft>
                <a:buNone/>
              </a:pPr>
              <a:r>
                <a:t/>
              </a:r>
              <a:endParaRPr b="1" sz="1100">
                <a:solidFill>
                  <a:schemeClr val="lt1"/>
                </a:solidFill>
                <a:latin typeface="Roboto"/>
                <a:ea typeface="Roboto"/>
                <a:cs typeface="Roboto"/>
                <a:sym typeface="Roboto"/>
              </a:endParaRPr>
            </a:p>
            <a:p>
              <a:pPr indent="-298450" lvl="0" marL="457200" rtl="0" algn="l">
                <a:lnSpc>
                  <a:spcPct val="115000"/>
                </a:lnSpc>
                <a:spcBef>
                  <a:spcPts val="0"/>
                </a:spcBef>
                <a:spcAft>
                  <a:spcPts val="0"/>
                </a:spcAft>
                <a:buClr>
                  <a:schemeClr val="lt1"/>
                </a:buClr>
                <a:buSzPts val="1100"/>
                <a:buFont typeface="Roboto"/>
                <a:buChar char="●"/>
              </a:pPr>
              <a:r>
                <a:rPr lang="en-US" sz="1100">
                  <a:solidFill>
                    <a:schemeClr val="lt1"/>
                  </a:solidFill>
                  <a:latin typeface="Roboto"/>
                  <a:ea typeface="Roboto"/>
                  <a:cs typeface="Roboto"/>
                  <a:sym typeface="Roboto"/>
                </a:rPr>
                <a:t>Ensured stable operation on ±10V rails with minimal distortions</a:t>
              </a:r>
              <a:endParaRPr sz="1100">
                <a:solidFill>
                  <a:schemeClr val="lt1"/>
                </a:solidFill>
                <a:latin typeface="Roboto"/>
                <a:ea typeface="Roboto"/>
                <a:cs typeface="Roboto"/>
                <a:sym typeface="Roboto"/>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g3ab8b2de681_0_18"/>
          <p:cNvSpPr txBox="1"/>
          <p:nvPr/>
        </p:nvSpPr>
        <p:spPr>
          <a:xfrm>
            <a:off x="3072000" y="747650"/>
            <a:ext cx="30000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chemeClr val="dk1"/>
                </a:solidFill>
                <a:latin typeface="Arial"/>
                <a:ea typeface="Arial"/>
                <a:cs typeface="Arial"/>
                <a:sym typeface="Arial"/>
              </a:rPr>
              <a:t>Features</a:t>
            </a:r>
            <a:endParaRPr b="1" i="0" sz="3200" u="none" cap="none" strike="noStrike">
              <a:solidFill>
                <a:schemeClr val="dk1"/>
              </a:solidFill>
              <a:latin typeface="Arial"/>
              <a:ea typeface="Arial"/>
              <a:cs typeface="Arial"/>
              <a:sym typeface="Arial"/>
            </a:endParaRPr>
          </a:p>
        </p:txBody>
      </p:sp>
      <p:grpSp>
        <p:nvGrpSpPr>
          <p:cNvPr id="156" name="Google Shape;156;g3ab8b2de681_0_18"/>
          <p:cNvGrpSpPr/>
          <p:nvPr/>
        </p:nvGrpSpPr>
        <p:grpSpPr>
          <a:xfrm>
            <a:off x="5122686" y="1518746"/>
            <a:ext cx="2488517" cy="2488517"/>
            <a:chOff x="4238812" y="2285250"/>
            <a:chExt cx="2166000" cy="2166000"/>
          </a:xfrm>
        </p:grpSpPr>
        <p:sp>
          <p:nvSpPr>
            <p:cNvPr id="157" name="Google Shape;157;g3ab8b2de681_0_18"/>
            <p:cNvSpPr/>
            <p:nvPr/>
          </p:nvSpPr>
          <p:spPr>
            <a:xfrm>
              <a:off x="4238812" y="2285250"/>
              <a:ext cx="2166000" cy="2166000"/>
            </a:xfrm>
            <a:prstGeom prst="ellipse">
              <a:avLst/>
            </a:prstGeom>
            <a:solidFill>
              <a:srgbClr val="801F17"/>
            </a:solidFill>
            <a:ln>
              <a:noFill/>
            </a:ln>
          </p:spPr>
          <p:txBody>
            <a:bodyPr anchorCtr="0" anchor="ctr" bIns="105025" lIns="105025" spcFirstLastPara="1" rIns="105025" wrap="square" tIns="105025">
              <a:noAutofit/>
            </a:bodyPr>
            <a:lstStyle/>
            <a:p>
              <a:pPr indent="0" lvl="0" marL="0" rtl="0" algn="l">
                <a:spcBef>
                  <a:spcPts val="0"/>
                </a:spcBef>
                <a:spcAft>
                  <a:spcPts val="0"/>
                </a:spcAft>
                <a:buNone/>
              </a:pPr>
              <a:r>
                <a:t/>
              </a:r>
              <a:endParaRPr/>
            </a:p>
          </p:txBody>
        </p:sp>
        <p:sp>
          <p:nvSpPr>
            <p:cNvPr id="158" name="Google Shape;158;g3ab8b2de681_0_18"/>
            <p:cNvSpPr txBox="1"/>
            <p:nvPr/>
          </p:nvSpPr>
          <p:spPr>
            <a:xfrm>
              <a:off x="4657605" y="3012004"/>
              <a:ext cx="1328400" cy="712500"/>
            </a:xfrm>
            <a:prstGeom prst="rect">
              <a:avLst/>
            </a:prstGeom>
            <a:noFill/>
            <a:ln>
              <a:noFill/>
            </a:ln>
          </p:spPr>
          <p:txBody>
            <a:bodyPr anchorCtr="0" anchor="ctr" bIns="105025" lIns="105025" spcFirstLastPara="1" rIns="105025" wrap="square" tIns="105025">
              <a:noAutofit/>
            </a:bodyPr>
            <a:lstStyle/>
            <a:p>
              <a:pPr indent="0" lvl="0" marL="0" rtl="0" algn="ctr">
                <a:spcBef>
                  <a:spcPts val="0"/>
                </a:spcBef>
                <a:spcAft>
                  <a:spcPts val="0"/>
                </a:spcAft>
                <a:buNone/>
              </a:pPr>
              <a:r>
                <a:rPr b="1" lang="en-US" sz="2000">
                  <a:solidFill>
                    <a:srgbClr val="FFFFFF"/>
                  </a:solidFill>
                  <a:latin typeface="Roboto"/>
                  <a:ea typeface="Roboto"/>
                  <a:cs typeface="Roboto"/>
                  <a:sym typeface="Roboto"/>
                </a:rPr>
                <a:t>System supports both channels </a:t>
              </a:r>
              <a:endParaRPr b="1" sz="2000">
                <a:solidFill>
                  <a:srgbClr val="FFFFFF"/>
                </a:solidFill>
                <a:latin typeface="Roboto"/>
                <a:ea typeface="Roboto"/>
                <a:cs typeface="Roboto"/>
                <a:sym typeface="Roboto"/>
              </a:endParaRPr>
            </a:p>
          </p:txBody>
        </p:sp>
      </p:grpSp>
      <p:grpSp>
        <p:nvGrpSpPr>
          <p:cNvPr id="159" name="Google Shape;159;g3ab8b2de681_0_18"/>
          <p:cNvGrpSpPr/>
          <p:nvPr/>
        </p:nvGrpSpPr>
        <p:grpSpPr>
          <a:xfrm>
            <a:off x="1641164" y="1599503"/>
            <a:ext cx="2488517" cy="2488517"/>
            <a:chOff x="2500956" y="1223350"/>
            <a:chExt cx="2166000" cy="2166000"/>
          </a:xfrm>
        </p:grpSpPr>
        <p:sp>
          <p:nvSpPr>
            <p:cNvPr id="160" name="Google Shape;160;g3ab8b2de681_0_18"/>
            <p:cNvSpPr/>
            <p:nvPr/>
          </p:nvSpPr>
          <p:spPr>
            <a:xfrm>
              <a:off x="2500956" y="1223350"/>
              <a:ext cx="2166000" cy="2166000"/>
            </a:xfrm>
            <a:prstGeom prst="ellipse">
              <a:avLst/>
            </a:prstGeom>
            <a:solidFill>
              <a:srgbClr val="B02B20"/>
            </a:solidFill>
            <a:ln>
              <a:noFill/>
            </a:ln>
          </p:spPr>
          <p:txBody>
            <a:bodyPr anchorCtr="0" anchor="ctr" bIns="105025" lIns="105025" spcFirstLastPara="1" rIns="105025" wrap="square" tIns="105025">
              <a:noAutofit/>
            </a:bodyPr>
            <a:lstStyle/>
            <a:p>
              <a:pPr indent="0" lvl="0" marL="0" rtl="0" algn="l">
                <a:spcBef>
                  <a:spcPts val="0"/>
                </a:spcBef>
                <a:spcAft>
                  <a:spcPts val="0"/>
                </a:spcAft>
                <a:buNone/>
              </a:pPr>
              <a:r>
                <a:t/>
              </a:r>
              <a:endParaRPr/>
            </a:p>
          </p:txBody>
        </p:sp>
        <p:sp>
          <p:nvSpPr>
            <p:cNvPr id="161" name="Google Shape;161;g3ab8b2de681_0_18"/>
            <p:cNvSpPr txBox="1"/>
            <p:nvPr/>
          </p:nvSpPr>
          <p:spPr>
            <a:xfrm>
              <a:off x="2919761" y="1975600"/>
              <a:ext cx="1328400" cy="661500"/>
            </a:xfrm>
            <a:prstGeom prst="rect">
              <a:avLst/>
            </a:prstGeom>
            <a:noFill/>
            <a:ln>
              <a:noFill/>
            </a:ln>
          </p:spPr>
          <p:txBody>
            <a:bodyPr anchorCtr="0" anchor="ctr" bIns="105025" lIns="105025" spcFirstLastPara="1" rIns="105025" wrap="square" tIns="105025">
              <a:noAutofit/>
            </a:bodyPr>
            <a:lstStyle/>
            <a:p>
              <a:pPr indent="0" lvl="0" marL="0" rtl="0" algn="ctr">
                <a:spcBef>
                  <a:spcPts val="0"/>
                </a:spcBef>
                <a:spcAft>
                  <a:spcPts val="0"/>
                </a:spcAft>
                <a:buNone/>
              </a:pPr>
              <a:r>
                <a:rPr b="1" lang="en-US" sz="2048" u="sng">
                  <a:solidFill>
                    <a:srgbClr val="FFFFFF"/>
                  </a:solidFill>
                  <a:latin typeface="Roboto"/>
                  <a:ea typeface="Roboto"/>
                  <a:cs typeface="Roboto"/>
                  <a:sym typeface="Roboto"/>
                </a:rPr>
                <a:t>Sine Wave</a:t>
              </a:r>
              <a:endParaRPr b="1" sz="2048" u="sng">
                <a:solidFill>
                  <a:srgbClr val="FFFFFF"/>
                </a:solidFill>
                <a:latin typeface="Roboto"/>
                <a:ea typeface="Roboto"/>
                <a:cs typeface="Roboto"/>
                <a:sym typeface="Roboto"/>
              </a:endParaRPr>
            </a:p>
            <a:p>
              <a:pPr indent="0" lvl="0" marL="0" rtl="0" algn="ctr">
                <a:spcBef>
                  <a:spcPts val="0"/>
                </a:spcBef>
                <a:spcAft>
                  <a:spcPts val="0"/>
                </a:spcAft>
                <a:buNone/>
              </a:pPr>
              <a:r>
                <a:rPr b="1" lang="en-US" sz="2048">
                  <a:solidFill>
                    <a:srgbClr val="FFFFFF"/>
                  </a:solidFill>
                  <a:latin typeface="Roboto"/>
                  <a:ea typeface="Roboto"/>
                  <a:cs typeface="Roboto"/>
                  <a:sym typeface="Roboto"/>
                </a:rPr>
                <a:t>±5V, 1 Hz</a:t>
              </a:r>
              <a:endParaRPr b="1" sz="2048">
                <a:solidFill>
                  <a:srgbClr val="FFFFFF"/>
                </a:solidFill>
                <a:latin typeface="Roboto"/>
                <a:ea typeface="Roboto"/>
                <a:cs typeface="Roboto"/>
                <a:sym typeface="Roboto"/>
              </a:endParaRPr>
            </a:p>
            <a:p>
              <a:pPr indent="0" lvl="0" marL="457200" rtl="0" algn="l">
                <a:spcBef>
                  <a:spcPts val="0"/>
                </a:spcBef>
                <a:spcAft>
                  <a:spcPts val="0"/>
                </a:spcAft>
                <a:buNone/>
              </a:pPr>
              <a:r>
                <a:t/>
              </a:r>
              <a:endParaRPr b="1" sz="1148">
                <a:solidFill>
                  <a:srgbClr val="FFFFFF"/>
                </a:solidFill>
                <a:latin typeface="Roboto"/>
                <a:ea typeface="Roboto"/>
                <a:cs typeface="Roboto"/>
                <a:sym typeface="Roboto"/>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pic>
        <p:nvPicPr>
          <p:cNvPr id="166" name="Google Shape;166;g3ab8b2de681_0_73" title="Transient, Amp=5V, freq=100kHz, Load=50Ohms.jpg"/>
          <p:cNvPicPr preferRelativeResize="0"/>
          <p:nvPr/>
        </p:nvPicPr>
        <p:blipFill>
          <a:blip r:embed="rId3">
            <a:alphaModFix/>
          </a:blip>
          <a:stretch>
            <a:fillRect/>
          </a:stretch>
        </p:blipFill>
        <p:spPr>
          <a:xfrm>
            <a:off x="1362500" y="845825"/>
            <a:ext cx="6419001" cy="4048074"/>
          </a:xfrm>
          <a:prstGeom prst="rect">
            <a:avLst/>
          </a:prstGeom>
          <a:noFill/>
          <a:ln>
            <a:noFill/>
          </a:ln>
        </p:spPr>
      </p:pic>
      <p:sp>
        <p:nvSpPr>
          <p:cNvPr id="167" name="Google Shape;167;g3ab8b2de681_0_73"/>
          <p:cNvSpPr txBox="1"/>
          <p:nvPr/>
        </p:nvSpPr>
        <p:spPr>
          <a:xfrm>
            <a:off x="3537375" y="108275"/>
            <a:ext cx="6129900" cy="461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b="1" lang="en-US" sz="1800">
                <a:solidFill>
                  <a:schemeClr val="dk1"/>
                </a:solidFill>
              </a:rPr>
              <a:t>Output Buffer, ±5V swing into 50 Ω at 100 kHz</a:t>
            </a:r>
            <a:endParaRPr b="1" i="0" sz="1700"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2013-06-18T16:37:55Z</dcterms:created>
  <dc:creator>Brian Gardner</dc:creator>
</cp:coreProperties>
</file>